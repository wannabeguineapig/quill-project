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87" r:id="rId3"/>
    <p:sldId id="288" r:id="rId4"/>
    <p:sldId id="289" r:id="rId5"/>
    <p:sldId id="298" r:id="rId6"/>
    <p:sldId id="297" r:id="rId7"/>
    <p:sldId id="293" r:id="rId8"/>
    <p:sldId id="294" r:id="rId9"/>
    <p:sldId id="296" r:id="rId10"/>
    <p:sldId id="295" r:id="rId11"/>
    <p:sldId id="290" r:id="rId12"/>
    <p:sldId id="291" r:id="rId13"/>
    <p:sldId id="292" r:id="rId14"/>
    <p:sldId id="283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na David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3371"/>
    <a:srgbClr val="1B434A"/>
    <a:srgbClr val="339966"/>
    <a:srgbClr val="265F68"/>
    <a:srgbClr val="D6DBDE"/>
    <a:srgbClr val="006600"/>
    <a:srgbClr val="241937"/>
    <a:srgbClr val="E9C2EC"/>
    <a:srgbClr val="D3C8E6"/>
    <a:srgbClr val="EC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9" autoAdjust="0"/>
    <p:restoredTop sz="94660" autoAdjust="0"/>
  </p:normalViewPr>
  <p:slideViewPr>
    <p:cSldViewPr snapToGrid="0">
      <p:cViewPr varScale="1">
        <p:scale>
          <a:sx n="102" d="100"/>
          <a:sy n="102" d="100"/>
        </p:scale>
        <p:origin x="58" y="29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194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rgbClr val="33996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598-4022-A13B-76C24ADCE974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598-4022-A13B-76C24ADCE974}"/>
              </c:ext>
            </c:extLst>
          </c:dPt>
          <c:dPt>
            <c:idx val="2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598-4022-A13B-76C24ADCE9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5BAE3DF-E9C7-4764-8E19-60D80B355D86}" type="VALUE">
                      <a:rPr lang="en-US" smtClean="0"/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598-4022-A13B-76C24ADCE9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Лист1!$D$1:$D$3</c:f>
              <c:strCache>
                <c:ptCount val="3"/>
                <c:pt idx="0">
                  <c:v>Положительно</c:v>
                </c:pt>
                <c:pt idx="1">
                  <c:v>Отрицательно</c:v>
                </c:pt>
                <c:pt idx="2">
                  <c:v>Не реализовано</c:v>
                </c:pt>
              </c:strCache>
            </c:strRef>
          </c:cat>
          <c:val>
            <c:numRef>
              <c:f>Лист1!$E$1:$E$3</c:f>
              <c:numCache>
                <c:formatCode>General</c:formatCode>
                <c:ptCount val="3"/>
                <c:pt idx="0">
                  <c:v>24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98-4022-A13B-76C24ADCE974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ln>
                <a:noFill/>
              </a:ln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9420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798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966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016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378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2769032f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2769032f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6697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2769032f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2769032f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350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2769032f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2769032f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933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2769032f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2769032f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358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7691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7106d231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7106d231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514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2769032f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2769032f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685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38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7.png"/><Relationship Id="rId4" Type="http://schemas.openxmlformats.org/officeDocument/2006/relationships/image" Target="../media/image9.jpe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6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68000" b="-68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A5C42D-762A-481D-A99C-F6911CDAA82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EF0AE95-7C28-4AD3-9DFF-62D1D90663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8000"/>
          </a:blip>
          <a:stretch>
            <a:fillRect/>
          </a:stretch>
        </p:blipFill>
        <p:spPr>
          <a:xfrm rot="10511168">
            <a:off x="2641182" y="-10234"/>
            <a:ext cx="8596705" cy="742605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7C5D9B1-9C8F-4421-8391-737E34272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44008">
            <a:off x="-467828" y="-3717516"/>
            <a:ext cx="1783367" cy="317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1CD391C-9B71-4EED-8F38-2A374FD5E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83919">
            <a:off x="10769624" y="6030394"/>
            <a:ext cx="841299" cy="12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Google Shape;55;p13"/>
          <p:cNvSpPr txBox="1"/>
          <p:nvPr/>
        </p:nvSpPr>
        <p:spPr>
          <a:xfrm>
            <a:off x="2273382" y="2436967"/>
            <a:ext cx="3896658" cy="49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ПЛАТФОРМА АВТОРСКИХ ПУБЛИКАЦИЙ</a:t>
            </a:r>
            <a:br>
              <a:rPr lang="ru-RU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</a:br>
            <a:endParaRPr lang="ru-RU" dirty="0">
              <a:solidFill>
                <a:schemeClr val="bg1"/>
              </a:solidFill>
              <a:latin typeface="+mj-lt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2CC767-DDE9-4025-94C5-DD207725590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943857" y="5496930"/>
            <a:ext cx="4086071" cy="39116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7A61AF-1314-4B02-AF98-04BE1208CED4}"/>
              </a:ext>
            </a:extLst>
          </p:cNvPr>
          <p:cNvSpPr txBox="1"/>
          <p:nvPr/>
        </p:nvSpPr>
        <p:spPr>
          <a:xfrm>
            <a:off x="2227878" y="1695931"/>
            <a:ext cx="47545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" sz="5000" b="1" dirty="0">
                <a:solidFill>
                  <a:schemeClr val="bg1"/>
                </a:solidFill>
                <a:latin typeface="+mj-lt"/>
                <a:ea typeface="Oswald"/>
                <a:cs typeface="Oswald"/>
                <a:sym typeface="Oswald"/>
              </a:rPr>
              <a:t>QUILL </a:t>
            </a:r>
            <a:endParaRPr lang="en-US" sz="5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7003B7-7499-4D0B-8586-51BE98BAA0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3369" y="-4207911"/>
            <a:ext cx="3406762" cy="590384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9CBF873-FAD7-417B-847A-D84B9EAF999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 rot="2307118">
            <a:off x="-5539254" y="-3703990"/>
            <a:ext cx="2982154" cy="516800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CC66120-5AD7-4C09-BC29-786189E071E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4112" y="-4074045"/>
            <a:ext cx="4357496" cy="391160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78413BE-929A-4637-8D49-969461D9DB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6039" y="-2563301"/>
            <a:ext cx="2309209" cy="24008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923ACF-43A8-4E31-9E23-BE67819906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252689" y="814868"/>
            <a:ext cx="2341832" cy="243477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8061207-439B-4DC8-8323-7B7C16080CD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8000"/>
          </a:blip>
          <a:stretch>
            <a:fillRect/>
          </a:stretch>
        </p:blipFill>
        <p:spPr>
          <a:xfrm>
            <a:off x="4450926" y="5449380"/>
            <a:ext cx="5954328" cy="5143500"/>
          </a:xfrm>
          <a:prstGeom prst="rect">
            <a:avLst/>
          </a:prstGeom>
        </p:spPr>
      </p:pic>
      <p:sp>
        <p:nvSpPr>
          <p:cNvPr id="16" name="Google Shape;55;p13">
            <a:extLst>
              <a:ext uri="{FF2B5EF4-FFF2-40B4-BE49-F238E27FC236}">
                <a16:creationId xmlns:a16="http://schemas.microsoft.com/office/drawing/2014/main" id="{432125B9-5A98-4228-B08A-0F286FDD221C}"/>
              </a:ext>
            </a:extLst>
          </p:cNvPr>
          <p:cNvSpPr txBox="1"/>
          <p:nvPr/>
        </p:nvSpPr>
        <p:spPr>
          <a:xfrm>
            <a:off x="5337844" y="3910464"/>
            <a:ext cx="3563670" cy="169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Выполнили:</a:t>
            </a:r>
          </a:p>
          <a:p>
            <a:pPr marL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Юмагужина Д., Иванова Л., </a:t>
            </a:r>
          </a:p>
          <a:p>
            <a:pPr marL="0" lvl="0" indent="0" algn="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Семенов М., Худяков Р.</a:t>
            </a:r>
            <a:br>
              <a:rPr lang="ru-RU" sz="1300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</a:br>
            <a:endParaRPr lang="ru-RU" sz="1300" dirty="0">
              <a:solidFill>
                <a:schemeClr val="bg1"/>
              </a:solidFill>
              <a:latin typeface="+mj-lt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82038F8-FBF4-48D4-8355-ADCF57DA741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 rot="2307118">
            <a:off x="-1394826" y="-2432620"/>
            <a:ext cx="2982154" cy="51680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C05DDD-6A4F-49F2-B624-1C9D16F593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flipH="1">
            <a:off x="-519160" y="1110648"/>
            <a:ext cx="4532245" cy="4456211"/>
          </a:xfrm>
          <a:prstGeom prst="rect">
            <a:avLst/>
          </a:prstGeom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54B9607F-5FD8-4813-BE6E-EE3FE10E6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3980" y="-1912775"/>
            <a:ext cx="1635799" cy="163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219E918C-489C-41CC-8B29-DB3D45ECE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76656" y="-3934623"/>
            <a:ext cx="360394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F0B585F-58F5-49A9-B227-B392F8A09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81078" y="-2147431"/>
            <a:ext cx="4357496" cy="697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5" name="Google Shape;61;p14">
            <a:extLst>
              <a:ext uri="{FF2B5EF4-FFF2-40B4-BE49-F238E27FC236}">
                <a16:creationId xmlns:a16="http://schemas.microsoft.com/office/drawing/2014/main" id="{360850AE-EED2-40A3-975B-B4693F5D0ADF}"/>
              </a:ext>
            </a:extLst>
          </p:cNvPr>
          <p:cNvSpPr txBox="1"/>
          <p:nvPr/>
        </p:nvSpPr>
        <p:spPr>
          <a:xfrm>
            <a:off x="1094481" y="1208877"/>
            <a:ext cx="7344320" cy="2412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Тема: 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Информационная платформа для публицистических статей «</a:t>
            </a:r>
            <a:r>
              <a:rPr lang="ru-RU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Quill</a:t>
            </a: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»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Задача: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Разработать систему, предоставляющую функционал для:</a:t>
            </a:r>
          </a:p>
          <a:p>
            <a:pPr lvl="0" indent="182563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Публикации авторских публицистических материалов.</a:t>
            </a:r>
          </a:p>
          <a:p>
            <a:pPr lvl="0" indent="182563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Верификации и регистрации авторов.</a:t>
            </a:r>
          </a:p>
          <a:p>
            <a:pPr lvl="0" indent="182563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Агрегации статей в едином каталоге.</a:t>
            </a:r>
          </a:p>
          <a:p>
            <a:pPr lvl="0" indent="182563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Взаимодействия с контентом.</a:t>
            </a:r>
            <a:endParaRPr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577121" y="490836"/>
            <a:ext cx="8132163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ТЕМА ПРОЕКТА И ПОСТАНОВКА ЗАДАЧИ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1285F6B-10DE-472E-94EE-6CFB72D3A07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8000"/>
          </a:blip>
          <a:stretch>
            <a:fillRect/>
          </a:stretch>
        </p:blipFill>
        <p:spPr>
          <a:xfrm rot="15236408">
            <a:off x="-4773943" y="10337609"/>
            <a:ext cx="8596705" cy="742605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AE60283-C645-4C83-A44B-7D548C8F9AC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8268" y="3187699"/>
            <a:ext cx="4086071" cy="391160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C9669BD-5E09-4DAF-9DF9-77F325BB3F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9436" y="-1494363"/>
            <a:ext cx="2341832" cy="243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9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2008671" y="453307"/>
            <a:ext cx="696153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ТЕХНОЛОГИИ РАЗРАБОТКИ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0DBFF7-39F7-40A1-98DD-F9AE5E25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535" y="1242034"/>
            <a:ext cx="1227311" cy="12273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60D230-8F1E-448D-A59D-27FE53D2E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987" y="2251482"/>
            <a:ext cx="1359316" cy="1359316"/>
          </a:xfrm>
          <a:prstGeom prst="rect">
            <a:avLst/>
          </a:prstGeom>
          <a:effectLst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E15C63-C5BE-4AF0-BE4E-D344168BB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528" y="2486478"/>
            <a:ext cx="816454" cy="81645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E47010-6581-4834-A51C-DE37B6D70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131" y="3440288"/>
            <a:ext cx="1029208" cy="102920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A730611-0553-429B-B6BB-445A23EBC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5726" y="3364897"/>
            <a:ext cx="1437283" cy="143728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B29FEB2-7DC6-4243-B95C-C685CFFD34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  <a14:imgEffect>
                      <a14:brightnessContrast bright="100000" contrast="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92193" y="1392429"/>
            <a:ext cx="1051450" cy="1051450"/>
          </a:xfrm>
          <a:prstGeom prst="rect">
            <a:avLst/>
          </a:prstGeom>
          <a:effectLst/>
        </p:spPr>
      </p:pic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43BD67C-F209-44D9-BDA7-42CB56421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245" y="2243185"/>
            <a:ext cx="2058418" cy="102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20055DE4-48EA-4342-825E-79BF1FED7F0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75000"/>
          </a:blip>
          <a:stretch>
            <a:fillRect/>
          </a:stretch>
        </p:blipFill>
        <p:spPr>
          <a:xfrm rot="2307118">
            <a:off x="6553651" y="987575"/>
            <a:ext cx="3351064" cy="580731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FE180B4-D095-4C73-BDA4-5FCB6EFEBA66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75000"/>
          </a:blip>
          <a:stretch>
            <a:fillRect/>
          </a:stretch>
        </p:blipFill>
        <p:spPr>
          <a:xfrm rot="11585701">
            <a:off x="-1638988" y="-83277"/>
            <a:ext cx="3351064" cy="580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BEA455-5150-4846-9BDA-A92CC39735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6512805">
            <a:off x="6478644" y="-1702086"/>
            <a:ext cx="5077240" cy="43858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2057385" y="0"/>
            <a:ext cx="696153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АРХИТЕКТУРА ПРОЕКТА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F3017EA-61C7-4543-9CFB-B26147C7B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2" y="644725"/>
            <a:ext cx="9083366" cy="433033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3902008-B60B-4954-B1F2-D6CDA006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8431657">
            <a:off x="-3844393" y="171626"/>
            <a:ext cx="7231555" cy="624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BEA455-5150-4846-9BDA-A92CC39735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6512805">
            <a:off x="6478644" y="-1702086"/>
            <a:ext cx="5077240" cy="43858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2214780" y="0"/>
            <a:ext cx="696153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СХЕМА БАЗЫ ДАННЫХ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3902008-B60B-4954-B1F2-D6CDA006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8431657">
            <a:off x="-3844393" y="171626"/>
            <a:ext cx="7231555" cy="624680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6C1A62D-E6AE-4D5E-AF26-B8E3D6912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801" y="644725"/>
            <a:ext cx="4802398" cy="40874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92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BEA455-5150-4846-9BDA-A92CC39735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6512805">
            <a:off x="6478644" y="-1702086"/>
            <a:ext cx="5077240" cy="43858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1622675" y="0"/>
            <a:ext cx="696153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ДИАГРАММА ПРЕЦЕНДЕНТОВ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3902008-B60B-4954-B1F2-D6CDA0063E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8431657">
            <a:off x="-3844393" y="171626"/>
            <a:ext cx="7231555" cy="624680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2145FA4-063A-4B18-9003-16EEF86BA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504" y="527601"/>
            <a:ext cx="5178949" cy="461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2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2DAFEA1-8564-4D74-AFA7-F65001FCB0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0511168">
            <a:off x="1601695" y="-564989"/>
            <a:ext cx="8596705" cy="74260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36BA6A-9CB8-48D3-BAB6-6555D4BD49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888" t="40463" r="31692" b="-1"/>
          <a:stretch/>
        </p:blipFill>
        <p:spPr>
          <a:xfrm>
            <a:off x="3372786" y="3931518"/>
            <a:ext cx="2848131" cy="1081950"/>
          </a:xfrm>
          <a:prstGeom prst="rect">
            <a:avLst/>
          </a:prstGeom>
        </p:spPr>
      </p:pic>
      <p:sp>
        <p:nvSpPr>
          <p:cNvPr id="22" name="Google Shape;60;p14">
            <a:extLst>
              <a:ext uri="{FF2B5EF4-FFF2-40B4-BE49-F238E27FC236}">
                <a16:creationId xmlns:a16="http://schemas.microsoft.com/office/drawing/2014/main" id="{7352A7B8-6471-4C4C-88E3-962748A0C913}"/>
              </a:ext>
            </a:extLst>
          </p:cNvPr>
          <p:cNvSpPr txBox="1">
            <a:spLocks/>
          </p:cNvSpPr>
          <p:nvPr/>
        </p:nvSpPr>
        <p:spPr>
          <a:xfrm>
            <a:off x="2504026" y="78012"/>
            <a:ext cx="4585649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ГЛАВНАЯ СТРАНИЦА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9B4ED1-7F1B-4B53-BB9D-D7F8B385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067" y="737691"/>
            <a:ext cx="7093410" cy="37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0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2DAFEA1-8564-4D74-AFA7-F65001FCB0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0511168">
            <a:off x="1601695" y="-564989"/>
            <a:ext cx="8596705" cy="7426053"/>
          </a:xfrm>
          <a:prstGeom prst="rect">
            <a:avLst/>
          </a:prstGeom>
        </p:spPr>
      </p:pic>
      <p:sp>
        <p:nvSpPr>
          <p:cNvPr id="22" name="Google Shape;60;p14">
            <a:extLst>
              <a:ext uri="{FF2B5EF4-FFF2-40B4-BE49-F238E27FC236}">
                <a16:creationId xmlns:a16="http://schemas.microsoft.com/office/drawing/2014/main" id="{7352A7B8-6471-4C4C-88E3-962748A0C913}"/>
              </a:ext>
            </a:extLst>
          </p:cNvPr>
          <p:cNvSpPr txBox="1">
            <a:spLocks/>
          </p:cNvSpPr>
          <p:nvPr/>
        </p:nvSpPr>
        <p:spPr>
          <a:xfrm>
            <a:off x="2420912" y="99726"/>
            <a:ext cx="448206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СТРАНИЦА ПРОФИЛЯ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438EEC-2240-4621-A297-7DEE7C4C3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07" y="737691"/>
            <a:ext cx="8103785" cy="3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17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2DAFEA1-8564-4D74-AFA7-F65001FCB0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0511168">
            <a:off x="1601695" y="-564989"/>
            <a:ext cx="8596705" cy="742605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E0505D-EFF1-40FD-B821-4B64A217B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87" y="521845"/>
            <a:ext cx="8631179" cy="4099810"/>
          </a:xfrm>
          <a:prstGeom prst="rect">
            <a:avLst/>
          </a:prstGeom>
        </p:spPr>
      </p:pic>
      <p:sp>
        <p:nvSpPr>
          <p:cNvPr id="22" name="Google Shape;60;p14">
            <a:extLst>
              <a:ext uri="{FF2B5EF4-FFF2-40B4-BE49-F238E27FC236}">
                <a16:creationId xmlns:a16="http://schemas.microsoft.com/office/drawing/2014/main" id="{7352A7B8-6471-4C4C-88E3-962748A0C913}"/>
              </a:ext>
            </a:extLst>
          </p:cNvPr>
          <p:cNvSpPr txBox="1">
            <a:spLocks/>
          </p:cNvSpPr>
          <p:nvPr/>
        </p:nvSpPr>
        <p:spPr>
          <a:xfrm>
            <a:off x="2420912" y="99726"/>
            <a:ext cx="448206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СТРАНИЦА СТАТЬИ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435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2DAFEA1-8564-4D74-AFA7-F65001FCB0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0511168">
            <a:off x="1601695" y="-564989"/>
            <a:ext cx="8596705" cy="74260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C88392-12E8-40C9-88F9-F7959D1629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744"/>
          <a:stretch/>
        </p:blipFill>
        <p:spPr>
          <a:xfrm>
            <a:off x="765642" y="1236688"/>
            <a:ext cx="4369570" cy="370965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D84F2F-1E29-451A-88E3-3BBF67209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12" y="497514"/>
            <a:ext cx="3402593" cy="4728431"/>
          </a:xfrm>
          <a:prstGeom prst="rect">
            <a:avLst/>
          </a:prstGeom>
        </p:spPr>
      </p:pic>
      <p:sp>
        <p:nvSpPr>
          <p:cNvPr id="22" name="Google Shape;60;p14">
            <a:extLst>
              <a:ext uri="{FF2B5EF4-FFF2-40B4-BE49-F238E27FC236}">
                <a16:creationId xmlns:a16="http://schemas.microsoft.com/office/drawing/2014/main" id="{7352A7B8-6471-4C4C-88E3-962748A0C913}"/>
              </a:ext>
            </a:extLst>
          </p:cNvPr>
          <p:cNvSpPr txBox="1">
            <a:spLocks/>
          </p:cNvSpPr>
          <p:nvPr/>
        </p:nvSpPr>
        <p:spPr>
          <a:xfrm>
            <a:off x="150548" y="99725"/>
            <a:ext cx="8993451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СТРАНИЦА СОЗДАНИЯ И РЕДАКТИРОВАНИЯ СТАТЬИ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556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B0C194-EDE5-4063-A4F2-E3F3707F59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8268" y="3187699"/>
            <a:ext cx="4086071" cy="391160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0F165E-6119-4CD5-9265-69A4A768F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024" y="-880439"/>
            <a:ext cx="2341832" cy="24347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2057385" y="0"/>
            <a:ext cx="6961530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en-US" sz="3000" b="1" dirty="0">
                <a:solidFill>
                  <a:schemeClr val="bg1"/>
                </a:solidFill>
                <a:latin typeface="+mj-lt"/>
              </a:rPr>
              <a:t>USABILITY </a:t>
            </a:r>
            <a:r>
              <a:rPr lang="ru-RU" sz="3000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AE0C427-7114-4588-B0B3-BA22D41DB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94055"/>
              </p:ext>
            </p:extLst>
          </p:nvPr>
        </p:nvGraphicFramePr>
        <p:xfrm>
          <a:off x="1684451" y="749592"/>
          <a:ext cx="6028573" cy="405696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035423">
                  <a:extLst>
                    <a:ext uri="{9D8B030D-6E8A-4147-A177-3AD203B41FA5}">
                      <a16:colId xmlns:a16="http://schemas.microsoft.com/office/drawing/2014/main" val="2088634521"/>
                    </a:ext>
                  </a:extLst>
                </a:gridCol>
                <a:gridCol w="1511888">
                  <a:extLst>
                    <a:ext uri="{9D8B030D-6E8A-4147-A177-3AD203B41FA5}">
                      <a16:colId xmlns:a16="http://schemas.microsoft.com/office/drawing/2014/main" val="3768616649"/>
                    </a:ext>
                  </a:extLst>
                </a:gridCol>
                <a:gridCol w="1481262">
                  <a:extLst>
                    <a:ext uri="{9D8B030D-6E8A-4147-A177-3AD203B41FA5}">
                      <a16:colId xmlns:a16="http://schemas.microsoft.com/office/drawing/2014/main" val="3879781575"/>
                    </a:ext>
                  </a:extLst>
                </a:gridCol>
              </a:tblGrid>
              <a:tr h="380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ПРИНЦИП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УЧАСТНИК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ОБЩАЯ ОЦЕНКА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21759"/>
                  </a:ext>
                </a:extLst>
              </a:tr>
              <a:tr h="380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ИНФОРМАТИВНОСТЬ СИСТЕМЫ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006600"/>
                          </a:solidFill>
                          <a:effectLst/>
                        </a:rPr>
                        <a:t>Соответствует</a:t>
                      </a:r>
                      <a:endParaRPr lang="ru-RU" sz="1100" kern="100" dirty="0">
                        <a:solidFill>
                          <a:srgbClr val="0066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42808080"/>
                  </a:ext>
                </a:extLst>
              </a:tr>
              <a:tr h="3754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ПРИБЛИЖЕННОСТЬ К РЕАЛЬНОМУ МИРУ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006600"/>
                          </a:solidFill>
                          <a:effectLst/>
                        </a:rPr>
                        <a:t>Соответствует</a:t>
                      </a:r>
                      <a:endParaRPr lang="ru-RU" sz="1100" kern="100" dirty="0">
                        <a:solidFill>
                          <a:srgbClr val="0066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Высокая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633914898"/>
                  </a:ext>
                </a:extLst>
              </a:tr>
              <a:tr h="3807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НАЛИЧИЕ ВЫХОДОВ ИЗ СОСТОЯНИЙ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C08E00"/>
                          </a:solidFill>
                          <a:effectLst/>
                        </a:rPr>
                        <a:t>Неполное</a:t>
                      </a:r>
                      <a:endParaRPr lang="ru-RU" sz="1100" kern="100" dirty="0">
                        <a:solidFill>
                          <a:srgbClr val="C08E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1374263304"/>
                  </a:ext>
                </a:extLst>
              </a:tr>
              <a:tr h="3428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ОДНОЗНАЧНОСТЬ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006600"/>
                          </a:solidFill>
                          <a:effectLst/>
                        </a:rPr>
                        <a:t>Соответствует</a:t>
                      </a:r>
                      <a:endParaRPr lang="ru-RU" sz="1100" kern="100" dirty="0">
                        <a:solidFill>
                          <a:srgbClr val="0066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Высокая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919011126"/>
                  </a:ext>
                </a:extLst>
              </a:tr>
              <a:tr h="3546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ПРЕДУСМОТРИТЕЛЬНОСТЬ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006600"/>
                          </a:solidFill>
                          <a:effectLst/>
                        </a:rPr>
                        <a:t>Соответствует</a:t>
                      </a:r>
                      <a:endParaRPr lang="ru-RU" sz="1100" kern="100" dirty="0">
                        <a:solidFill>
                          <a:srgbClr val="0066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Высокая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2431604956"/>
                  </a:ext>
                </a:extLst>
              </a:tr>
              <a:tr h="3359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НАГЛЯДНОСТЬ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CC9900"/>
                          </a:solidFill>
                          <a:effectLst/>
                        </a:rPr>
                        <a:t>Неполное</a:t>
                      </a:r>
                      <a:endParaRPr lang="ru-RU" sz="1100" kern="100" dirty="0">
                        <a:solidFill>
                          <a:srgbClr val="CC99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Средняя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1120679634"/>
                  </a:ext>
                </a:extLst>
              </a:tr>
              <a:tr h="380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ГИБКОСТЬ И ЭФФЕКТИВНОСТЬ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006600"/>
                          </a:solidFill>
                          <a:effectLst/>
                        </a:rPr>
                        <a:t>Соответствует</a:t>
                      </a:r>
                      <a:endParaRPr lang="ru-RU" sz="1100" kern="100" dirty="0">
                        <a:solidFill>
                          <a:srgbClr val="0066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Высокая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527294271"/>
                  </a:ext>
                </a:extLst>
              </a:tr>
              <a:tr h="380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ЛАКОНИЧНОСТЬ И ТОЧНОСТЬ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006600"/>
                          </a:solidFill>
                          <a:effectLst/>
                        </a:rPr>
                        <a:t>Соответствует</a:t>
                      </a:r>
                      <a:endParaRPr lang="ru-RU" sz="1100" kern="100" dirty="0">
                        <a:solidFill>
                          <a:srgbClr val="0066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Высокая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1055795352"/>
                  </a:ext>
                </a:extLst>
              </a:tr>
              <a:tr h="363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ЛОЯЛЬНОСТЬ К ОШИБКАМ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CC9900"/>
                          </a:solidFill>
                          <a:effectLst/>
                        </a:rPr>
                        <a:t>Неполное</a:t>
                      </a:r>
                      <a:endParaRPr lang="ru-RU" sz="1100" kern="100" dirty="0">
                        <a:solidFill>
                          <a:srgbClr val="CC99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Средняя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771715245"/>
                  </a:ext>
                </a:extLst>
              </a:tr>
              <a:tr h="380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effectLst/>
                        </a:rPr>
                        <a:t>НАЛИЧИЕ СПРАВКИ</a:t>
                      </a:r>
                      <a:endParaRPr lang="ru-RU" sz="10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C00000"/>
                          </a:solidFill>
                          <a:effectLst/>
                        </a:rPr>
                        <a:t>Не соответствует</a:t>
                      </a:r>
                      <a:endParaRPr lang="ru-RU" sz="1100" kern="100" dirty="0">
                        <a:solidFill>
                          <a:srgbClr val="C00000"/>
                        </a:solidFill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Низкая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561205288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7F362A5-67C3-4923-AC03-6BFF97429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96445" y="1327821"/>
            <a:ext cx="2392889" cy="248785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B5B5315-CC45-4A29-9941-25259B5EC7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36042" y="2123937"/>
            <a:ext cx="2802268" cy="268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4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B08FEFD-18ED-44AB-BFDE-8D226D7394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451652" y="3826395"/>
            <a:ext cx="4086071" cy="391160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130C168-8E17-424B-AE30-5F488A1CD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021" y="-1371839"/>
            <a:ext cx="2341832" cy="243477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7D3C0BB-F1AE-4BF9-AF10-79A7F079D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869" y="1664769"/>
            <a:ext cx="2392889" cy="24878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20A04B7-C35B-4821-90BA-0CFA233D4B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29272" y="2460885"/>
            <a:ext cx="2802268" cy="2682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63826-8332-4FA6-A837-A263C0B17F5F}"/>
              </a:ext>
            </a:extLst>
          </p:cNvPr>
          <p:cNvSpPr txBox="1"/>
          <p:nvPr/>
        </p:nvSpPr>
        <p:spPr>
          <a:xfrm>
            <a:off x="-228615" y="3369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F655836-3C0B-4DC2-A888-3C5FAA908019}"/>
              </a:ext>
            </a:extLst>
          </p:cNvPr>
          <p:cNvSpPr txBox="1">
            <a:spLocks/>
          </p:cNvSpPr>
          <p:nvPr/>
        </p:nvSpPr>
        <p:spPr>
          <a:xfrm>
            <a:off x="3093394" y="194337"/>
            <a:ext cx="3063255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ТЕСТ-КЕЙСЫ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AE0C427-7114-4588-B0B3-BA22D41DB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144587"/>
              </p:ext>
            </p:extLst>
          </p:nvPr>
        </p:nvGraphicFramePr>
        <p:xfrm>
          <a:off x="853000" y="1338538"/>
          <a:ext cx="5357793" cy="298346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024026">
                  <a:extLst>
                    <a:ext uri="{9D8B030D-6E8A-4147-A177-3AD203B41FA5}">
                      <a16:colId xmlns:a16="http://schemas.microsoft.com/office/drawing/2014/main" val="2088634521"/>
                    </a:ext>
                  </a:extLst>
                </a:gridCol>
                <a:gridCol w="1142014">
                  <a:extLst>
                    <a:ext uri="{9D8B030D-6E8A-4147-A177-3AD203B41FA5}">
                      <a16:colId xmlns:a16="http://schemas.microsoft.com/office/drawing/2014/main" val="1281383426"/>
                    </a:ext>
                  </a:extLst>
                </a:gridCol>
                <a:gridCol w="1191753">
                  <a:extLst>
                    <a:ext uri="{9D8B030D-6E8A-4147-A177-3AD203B41FA5}">
                      <a16:colId xmlns:a16="http://schemas.microsoft.com/office/drawing/2014/main" val="2392282416"/>
                    </a:ext>
                  </a:extLst>
                </a:gridCol>
              </a:tblGrid>
              <a:tr h="5093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Название проверки 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Результат 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Замечания и рекомендации 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21759"/>
                  </a:ext>
                </a:extLst>
              </a:tr>
              <a:tr h="355081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КРОССБРАУЗЕРНОЕ ТЕСТИРОВАНИЕ</a:t>
                      </a:r>
                    </a:p>
                  </a:txBody>
                  <a:tcPr marL="47706" marR="47706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493371">
                            <a:tint val="66000"/>
                            <a:satMod val="160000"/>
                          </a:srgbClr>
                        </a:gs>
                        <a:gs pos="50000">
                          <a:srgbClr val="493371">
                            <a:tint val="44500"/>
                            <a:satMod val="160000"/>
                          </a:srgbClr>
                        </a:gs>
                        <a:gs pos="100000">
                          <a:srgbClr val="493371">
                            <a:tint val="23500"/>
                            <a:satMod val="160000"/>
                          </a:srgbClr>
                        </a:gs>
                      </a:gsLst>
                      <a:lin ang="189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79460"/>
                  </a:ext>
                </a:extLst>
              </a:tr>
              <a:tr h="522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Приложение корректно отображается и функционирует во всех актуальных браузерах.</a:t>
                      </a:r>
                      <a:endParaRPr lang="ru-RU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Не реализовано</a:t>
                      </a:r>
                      <a:endParaRPr lang="ru-RU" sz="1100" kern="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ru-RU" sz="1100" kern="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1842808080"/>
                  </a:ext>
                </a:extLst>
              </a:tr>
              <a:tr h="34265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РАБОТА С ФОРМАМИ</a:t>
                      </a:r>
                    </a:p>
                  </a:txBody>
                  <a:tcPr marL="47706" marR="47706" marT="0" marB="0" anchor="ctr">
                    <a:gradFill flip="none" rotWithShape="1">
                      <a:gsLst>
                        <a:gs pos="0">
                          <a:srgbClr val="493371">
                            <a:tint val="66000"/>
                            <a:satMod val="160000"/>
                          </a:srgbClr>
                        </a:gs>
                        <a:gs pos="50000">
                          <a:srgbClr val="493371">
                            <a:tint val="44500"/>
                            <a:satMod val="160000"/>
                          </a:srgbClr>
                        </a:gs>
                        <a:gs pos="100000">
                          <a:srgbClr val="493371">
                            <a:tint val="23500"/>
                            <a:satMod val="160000"/>
                          </a:srgbClr>
                        </a:gs>
                      </a:gsLst>
                      <a:lin ang="189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49040"/>
                  </a:ext>
                </a:extLst>
              </a:tr>
              <a:tr h="390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Корректное отображение списков при выбранном фильтре</a:t>
                      </a:r>
                      <a:endParaRPr lang="ru-RU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EC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Отрицательно</a:t>
                      </a:r>
                      <a:endParaRPr lang="ru-RU" sz="11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</a:rPr>
                        <a:t>Не работает</a:t>
                      </a:r>
                      <a:endParaRPr lang="ru-RU" sz="11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633914898"/>
                  </a:ext>
                </a:extLst>
              </a:tr>
              <a:tr h="340364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НАВИГАЦИЯ</a:t>
                      </a:r>
                    </a:p>
                  </a:txBody>
                  <a:tcPr marL="47706" marR="47706" marT="0" marB="0" anchor="ctr">
                    <a:gradFill flip="none" rotWithShape="1">
                      <a:gsLst>
                        <a:gs pos="0">
                          <a:srgbClr val="493371">
                            <a:tint val="66000"/>
                            <a:satMod val="160000"/>
                          </a:srgbClr>
                        </a:gs>
                        <a:gs pos="50000">
                          <a:srgbClr val="493371">
                            <a:tint val="44500"/>
                            <a:satMod val="160000"/>
                          </a:srgbClr>
                        </a:gs>
                        <a:gs pos="100000">
                          <a:srgbClr val="493371">
                            <a:tint val="23500"/>
                            <a:satMod val="160000"/>
                          </a:srgbClr>
                        </a:gs>
                      </a:gsLst>
                      <a:lin ang="189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524420"/>
                  </a:ext>
                </a:extLst>
              </a:tr>
              <a:tr h="522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Отображение страницы с ошибкой 404, если пользователь указал неверный путь к файлу или URL.</a:t>
                      </a:r>
                      <a:endParaRPr lang="ru-RU" sz="11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>
                    <a:solidFill>
                      <a:srgbClr val="EC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Отрицательно</a:t>
                      </a:r>
                      <a:endParaRPr lang="ru-RU" sz="11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ru-RU" sz="1100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7706" marR="47706" marT="0" marB="0" anchor="ctr"/>
                </a:tc>
                <a:extLst>
                  <a:ext uri="{0D108BD9-81ED-4DB2-BD59-A6C34878D82A}">
                    <a16:rowId xmlns:a16="http://schemas.microsoft.com/office/drawing/2014/main" val="1374263304"/>
                  </a:ext>
                </a:extLst>
              </a:tr>
            </a:tbl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423512F2-7AA2-F149-5ED1-ED46FA9585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618098"/>
              </p:ext>
            </p:extLst>
          </p:nvPr>
        </p:nvGraphicFramePr>
        <p:xfrm>
          <a:off x="6390640" y="901241"/>
          <a:ext cx="2500670" cy="334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01902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2DAFEA1-8564-4D74-AFA7-F65001FCB0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10511168">
            <a:off x="1601695" y="-564989"/>
            <a:ext cx="8596705" cy="7426053"/>
          </a:xfrm>
          <a:prstGeom prst="rect">
            <a:avLst/>
          </a:prstGeom>
        </p:spPr>
      </p:pic>
      <p:sp>
        <p:nvSpPr>
          <p:cNvPr id="22" name="Google Shape;60;p14">
            <a:extLst>
              <a:ext uri="{FF2B5EF4-FFF2-40B4-BE49-F238E27FC236}">
                <a16:creationId xmlns:a16="http://schemas.microsoft.com/office/drawing/2014/main" id="{7352A7B8-6471-4C4C-88E3-962748A0C913}"/>
              </a:ext>
            </a:extLst>
          </p:cNvPr>
          <p:cNvSpPr txBox="1">
            <a:spLocks/>
          </p:cNvSpPr>
          <p:nvPr/>
        </p:nvSpPr>
        <p:spPr>
          <a:xfrm>
            <a:off x="3072446" y="144696"/>
            <a:ext cx="3641806" cy="59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990"/>
            </a:pPr>
            <a:r>
              <a:rPr lang="ru-RU" sz="3000" b="1" dirty="0">
                <a:solidFill>
                  <a:schemeClr val="bg1"/>
                </a:solidFill>
                <a:latin typeface="+mj-lt"/>
              </a:rPr>
              <a:t>РАЗРАБОТЧИКИ</a:t>
            </a:r>
            <a:endParaRPr lang="en-US" sz="3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Google Shape;55;p13">
            <a:extLst>
              <a:ext uri="{FF2B5EF4-FFF2-40B4-BE49-F238E27FC236}">
                <a16:creationId xmlns:a16="http://schemas.microsoft.com/office/drawing/2014/main" id="{62E0CC1D-1AB9-4940-B4C3-3CFF4BEF2534}"/>
              </a:ext>
            </a:extLst>
          </p:cNvPr>
          <p:cNvSpPr txBox="1"/>
          <p:nvPr/>
        </p:nvSpPr>
        <p:spPr>
          <a:xfrm>
            <a:off x="507240" y="2485626"/>
            <a:ext cx="1971099" cy="49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МАТВЕЙ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Backend-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разработчик</a:t>
            </a:r>
            <a:endParaRPr lang="ru-RU" dirty="0">
              <a:solidFill>
                <a:schemeClr val="bg1"/>
              </a:solidFill>
              <a:latin typeface="+mj-lt"/>
              <a:ea typeface="Proxima Nova Semibold"/>
              <a:cs typeface="Proxima Nova Semibold"/>
              <a:sym typeface="Proxima Nova Semibold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Разработка серверной логики и API</a:t>
            </a:r>
          </a:p>
          <a:p>
            <a:pPr algn="ctr"/>
            <a:br>
              <a:rPr lang="ru-RU" dirty="0"/>
            </a:br>
            <a:endParaRPr lang="ru-RU" dirty="0">
              <a:solidFill>
                <a:schemeClr val="bg1"/>
              </a:solidFill>
              <a:latin typeface="+mj-lt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5" name="Google Shape;55;p13">
            <a:extLst>
              <a:ext uri="{FF2B5EF4-FFF2-40B4-BE49-F238E27FC236}">
                <a16:creationId xmlns:a16="http://schemas.microsoft.com/office/drawing/2014/main" id="{FF34B145-3BAB-4610-90CE-5CEF51F50499}"/>
              </a:ext>
            </a:extLst>
          </p:cNvPr>
          <p:cNvSpPr txBox="1"/>
          <p:nvPr/>
        </p:nvSpPr>
        <p:spPr>
          <a:xfrm>
            <a:off x="6505882" y="2485626"/>
            <a:ext cx="2292448" cy="49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РУСЛАН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Frontend-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разработчик 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Разработка клиентской части и пользовательского интерфейса</a:t>
            </a:r>
          </a:p>
          <a:p>
            <a:pPr algn="ctr"/>
            <a:br>
              <a:rPr lang="ru-RU" dirty="0"/>
            </a:br>
            <a:endParaRPr lang="ru-RU" dirty="0">
              <a:solidFill>
                <a:schemeClr val="bg1"/>
              </a:solidFill>
              <a:latin typeface="+mj-lt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6" name="Google Shape;55;p13">
            <a:extLst>
              <a:ext uri="{FF2B5EF4-FFF2-40B4-BE49-F238E27FC236}">
                <a16:creationId xmlns:a16="http://schemas.microsoft.com/office/drawing/2014/main" id="{D1AF6DD1-78E5-4AE8-986B-4B47BF5DA41A}"/>
              </a:ext>
            </a:extLst>
          </p:cNvPr>
          <p:cNvSpPr txBox="1"/>
          <p:nvPr/>
        </p:nvSpPr>
        <p:spPr>
          <a:xfrm>
            <a:off x="2643836" y="3560300"/>
            <a:ext cx="3854074" cy="49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dirty="0">
                <a:solidFill>
                  <a:schemeClr val="bg1"/>
                </a:solidFill>
                <a:latin typeface="+mj-lt"/>
                <a:ea typeface="Proxima Nova Semibold"/>
                <a:cs typeface="Proxima Nova Semibold"/>
                <a:sym typeface="Proxima Nova Semibold"/>
              </a:rPr>
              <a:t>ДИАНА И ЛЮБОВЬ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 err="1">
                <a:solidFill>
                  <a:srgbClr val="F9FAFB"/>
                </a:solidFill>
                <a:effectLst/>
                <a:latin typeface="quote-cjk-patch"/>
              </a:rPr>
              <a:t>Fullstack</a:t>
            </a:r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</a:rPr>
              <a:t>-</a:t>
            </a: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разработчики</a:t>
            </a:r>
          </a:p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Интеграция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frontend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backend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компонентов</a:t>
            </a:r>
          </a:p>
          <a:p>
            <a:pPr algn="ctr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Настройка взаимодействия Vue.js с C# API</a:t>
            </a:r>
          </a:p>
          <a:p>
            <a:pPr algn="ctr"/>
            <a:br>
              <a:rPr lang="ru-RU" dirty="0"/>
            </a:br>
            <a:br>
              <a:rPr lang="ru-RU" dirty="0"/>
            </a:br>
            <a:endParaRPr lang="ru-RU" dirty="0">
              <a:solidFill>
                <a:schemeClr val="bg1"/>
              </a:solidFill>
              <a:latin typeface="+mj-lt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369AA52-E576-4649-BB76-5B5C3D1EA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075" y="2139237"/>
            <a:ext cx="1254806" cy="124452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22E0DD-24D2-4765-B656-D164838D1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582" y="2139237"/>
            <a:ext cx="1255438" cy="1244521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6BEDC6B-2968-468E-BCA4-1AD5EDF17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71" y="1239351"/>
            <a:ext cx="1255438" cy="124627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7C225DA-ECDE-4B4B-8066-C728FBA760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0918" y="1239351"/>
            <a:ext cx="1255438" cy="125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97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617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BEC6EC-8060-4404-8293-AB924857B3A9}"/>
              </a:ext>
            </a:extLst>
          </p:cNvPr>
          <p:cNvSpPr/>
          <p:nvPr/>
        </p:nvSpPr>
        <p:spPr>
          <a:xfrm>
            <a:off x="-1" y="4482800"/>
            <a:ext cx="9144001" cy="393788"/>
          </a:xfrm>
          <a:prstGeom prst="rect">
            <a:avLst/>
          </a:prstGeom>
          <a:gradFill>
            <a:gsLst>
              <a:gs pos="0">
                <a:srgbClr val="493371"/>
              </a:gs>
              <a:gs pos="83000">
                <a:srgbClr val="1B434A"/>
              </a:gs>
            </a:gsLst>
            <a:lin ang="54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A61AF-1314-4B02-AF98-04BE1208CED4}"/>
              </a:ext>
            </a:extLst>
          </p:cNvPr>
          <p:cNvSpPr txBox="1"/>
          <p:nvPr/>
        </p:nvSpPr>
        <p:spPr>
          <a:xfrm>
            <a:off x="2028138" y="1614299"/>
            <a:ext cx="5406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1" dirty="0">
                <a:solidFill>
                  <a:schemeClr val="bg1"/>
                </a:solidFill>
                <a:latin typeface="+mj-lt"/>
              </a:rPr>
              <a:t>СПАСИБО</a:t>
            </a:r>
            <a:endParaRPr lang="en-US" sz="8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383371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229</Words>
  <Application>Microsoft Office PowerPoint</Application>
  <PresentationFormat>Экран (16:9)</PresentationFormat>
  <Paragraphs>87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quote-cjk-patch</vt:lpstr>
      <vt:lpstr>Aptos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Lyubaa</dc:creator>
  <cp:lastModifiedBy>Lyubov</cp:lastModifiedBy>
  <cp:revision>46</cp:revision>
  <dcterms:modified xsi:type="dcterms:W3CDTF">2025-11-19T07:58:44Z</dcterms:modified>
</cp:coreProperties>
</file>