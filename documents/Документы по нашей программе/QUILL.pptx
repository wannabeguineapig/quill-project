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87" r:id="rId3"/>
    <p:sldId id="288" r:id="rId4"/>
    <p:sldId id="289" r:id="rId5"/>
    <p:sldId id="298" r:id="rId6"/>
    <p:sldId id="297" r:id="rId7"/>
    <p:sldId id="293" r:id="rId8"/>
    <p:sldId id="294" r:id="rId9"/>
    <p:sldId id="296" r:id="rId10"/>
    <p:sldId id="295" r:id="rId11"/>
    <p:sldId id="290" r:id="rId12"/>
    <p:sldId id="291" r:id="rId13"/>
    <p:sldId id="300" r:id="rId14"/>
    <p:sldId id="292" r:id="rId15"/>
    <p:sldId id="299" r:id="rId16"/>
    <p:sldId id="283" r:id="rId1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Dana Davide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3371"/>
    <a:srgbClr val="1B434A"/>
    <a:srgbClr val="339966"/>
    <a:srgbClr val="265F68"/>
    <a:srgbClr val="D6DBDE"/>
    <a:srgbClr val="006600"/>
    <a:srgbClr val="241937"/>
    <a:srgbClr val="E9C2EC"/>
    <a:srgbClr val="D3C8E6"/>
    <a:srgbClr val="ECEE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701" autoAdjust="0"/>
    <p:restoredTop sz="94660" autoAdjust="0"/>
  </p:normalViewPr>
  <p:slideViewPr>
    <p:cSldViewPr snapToGrid="0">
      <p:cViewPr>
        <p:scale>
          <a:sx n="66" d="100"/>
          <a:sy n="66" d="100"/>
        </p:scale>
        <p:origin x="638" y="62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2" d="100"/>
          <a:sy n="72" d="100"/>
        </p:scale>
        <p:origin x="1944" y="7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&#1050;&#1085;&#1080;&#1075;&#1072;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&#1050;&#1085;&#1080;&#1075;&#1072;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/>
      <c:pieChart>
        <c:varyColors val="1"/>
        <c:ser>
          <c:idx val="0"/>
          <c:order val="0"/>
          <c:spPr>
            <a:ln>
              <a:noFill/>
            </a:ln>
          </c:spPr>
          <c:dPt>
            <c:idx val="0"/>
            <c:bubble3D val="0"/>
            <c:spPr>
              <a:solidFill>
                <a:srgbClr val="339966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B598-4022-A13B-76C24ADCE974}"/>
              </c:ext>
            </c:extLst>
          </c:dPt>
          <c:dPt>
            <c:idx val="1"/>
            <c:bubble3D val="0"/>
            <c:spPr>
              <a:solidFill>
                <a:srgbClr val="C00000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B598-4022-A13B-76C24ADCE974}"/>
              </c:ext>
            </c:extLst>
          </c:dPt>
          <c:dPt>
            <c:idx val="2"/>
            <c:bubble3D val="0"/>
            <c:spPr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B598-4022-A13B-76C24ADCE974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A5BAE3DF-E9C7-4764-8E19-60D80B355D86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B598-4022-A13B-76C24ADCE97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Лист1!$D$1:$D$3</c:f>
              <c:strCache>
                <c:ptCount val="3"/>
                <c:pt idx="0">
                  <c:v>Положительно</c:v>
                </c:pt>
                <c:pt idx="1">
                  <c:v>Отрицательно</c:v>
                </c:pt>
                <c:pt idx="2">
                  <c:v>Не реализовано</c:v>
                </c:pt>
              </c:strCache>
            </c:strRef>
          </c:cat>
          <c:val>
            <c:numRef>
              <c:f>Лист1!$E$1:$E$3</c:f>
              <c:numCache>
                <c:formatCode>General</c:formatCode>
                <c:ptCount val="3"/>
                <c:pt idx="0">
                  <c:v>24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598-4022-A13B-76C24ADCE974}"/>
            </c:ext>
          </c:extLst>
        </c:ser>
        <c:dLbls>
          <c:dLblPos val="in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ln>
                <a:noFill/>
              </a:ln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/>
      <c:pieChart>
        <c:varyColors val="1"/>
        <c:dLbls>
          <c:dLblPos val="inEnd"/>
          <c:showLegendKey val="0"/>
          <c:showVal val="0"/>
          <c:showCatName val="0"/>
          <c:showSerName val="0"/>
          <c:showPercent val="1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ln>
                <a:noFill/>
              </a:ln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Reversed" id="21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withinLinearReversed" id="21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5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1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scene3d>
        <a:camera prst="orthographicFront"/>
        <a:lightRig rig="brightRoom" dir="t"/>
      </a:scene3d>
      <a:sp3d prstMaterial="flat">
        <a:bevelT w="50800" h="101600" prst="angle"/>
        <a:contourClr>
          <a:srgbClr val="000000"/>
        </a:contourClr>
      </a:sp3d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1" i="0" kern="1200" cap="all" spc="5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1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scene3d>
        <a:camera prst="orthographicFront"/>
        <a:lightRig rig="brightRoom" dir="t"/>
      </a:scene3d>
      <a:sp3d prstMaterial="flat">
        <a:bevelT w="50800" h="101600" prst="angle"/>
        <a:contourClr>
          <a:srgbClr val="000000"/>
        </a:contourClr>
      </a:sp3d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1" i="0" kern="1200" cap="all" spc="5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37106d2313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37106d2313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79420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37106d2313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37106d2313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87984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37106d2313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37106d2313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29663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37106d2313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37106d2313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70168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37106d2313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37106d2313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83789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252769032f0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252769032f0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166978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252769032f0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252769032f0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023501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252769032f0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252769032f0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69331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252769032f0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252769032f0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13588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37106d2313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37106d2313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6914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37106d2313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37106d2313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55140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37106d2313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37106d2313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38071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252769032f0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252769032f0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76854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252769032f0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252769032f0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67992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573838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4" r:id="rId3"/>
    <p:sldLayoutId id="2147483656" r:id="rId4"/>
    <p:sldLayoutId id="2147483657" r:id="rId5"/>
    <p:sldLayoutId id="2147483658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8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jpeg"/><Relationship Id="rId5" Type="http://schemas.openxmlformats.org/officeDocument/2006/relationships/image" Target="../media/image10.jpeg"/><Relationship Id="rId10" Type="http://schemas.openxmlformats.org/officeDocument/2006/relationships/image" Target="../media/image7.png"/><Relationship Id="rId4" Type="http://schemas.openxmlformats.org/officeDocument/2006/relationships/image" Target="../media/image9.jpeg"/><Relationship Id="rId9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6.png"/><Relationship Id="rId5" Type="http://schemas.openxmlformats.org/officeDocument/2006/relationships/image" Target="../media/image14.png"/><Relationship Id="rId10" Type="http://schemas.openxmlformats.org/officeDocument/2006/relationships/image" Target="../media/image18.png"/><Relationship Id="rId4" Type="http://schemas.openxmlformats.org/officeDocument/2006/relationships/image" Target="../media/image13.png"/><Relationship Id="rId9" Type="http://schemas.microsoft.com/office/2007/relationships/hdphoto" Target="../media/hdphoto2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.xml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5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2.xml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microsoft.com/office/2007/relationships/hdphoto" Target="../media/hdphoto1.wdp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68000" b="-68000"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A5C42D-762A-481D-A99C-F6911CDAA823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9EF0AE95-7C28-4AD3-9DFF-62D1D906630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68000"/>
          </a:blip>
          <a:stretch>
            <a:fillRect/>
          </a:stretch>
        </p:blipFill>
        <p:spPr>
          <a:xfrm rot="10511168">
            <a:off x="2641182" y="-10234"/>
            <a:ext cx="8596705" cy="7426053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7C5D9B1-9C8F-4421-8391-737E342721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alphaModFix amt="4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444008">
            <a:off x="-467828" y="-3717516"/>
            <a:ext cx="1783367" cy="3178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F1CD391C-9B71-4EED-8F38-2A374FD5EF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alphaModFix amt="3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883919">
            <a:off x="10769624" y="6030394"/>
            <a:ext cx="841299" cy="12619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Google Shape;55;p13"/>
          <p:cNvSpPr txBox="1"/>
          <p:nvPr/>
        </p:nvSpPr>
        <p:spPr>
          <a:xfrm>
            <a:off x="2273382" y="2436967"/>
            <a:ext cx="3896658" cy="490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bg1"/>
                </a:solidFill>
                <a:latin typeface="+mj-lt"/>
                <a:ea typeface="Proxima Nova Semibold"/>
                <a:cs typeface="Proxima Nova Semibold"/>
                <a:sym typeface="Proxima Nova Semibold"/>
              </a:rPr>
              <a:t>ПЛАТФОРМА АВТОРСКИХ ПУБЛИКАЦИЙ</a:t>
            </a:r>
            <a:br>
              <a:rPr lang="ru-RU" dirty="0">
                <a:solidFill>
                  <a:schemeClr val="bg1"/>
                </a:solidFill>
                <a:latin typeface="+mj-lt"/>
                <a:ea typeface="Proxima Nova Semibold"/>
                <a:cs typeface="Proxima Nova Semibold"/>
                <a:sym typeface="Proxima Nova Semibold"/>
              </a:rPr>
            </a:br>
            <a:endParaRPr lang="ru-RU" dirty="0">
              <a:solidFill>
                <a:schemeClr val="bg1"/>
              </a:solidFill>
              <a:latin typeface="+mj-lt"/>
              <a:ea typeface="Proxima Nova Semibold"/>
              <a:cs typeface="Proxima Nova Semibold"/>
              <a:sym typeface="Proxima Nova Semibold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62CC767-DDE9-4025-94C5-DD2077255907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9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943857" y="5496930"/>
            <a:ext cx="4086071" cy="39116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87A61AF-1314-4B02-AF98-04BE1208CED4}"/>
              </a:ext>
            </a:extLst>
          </p:cNvPr>
          <p:cNvSpPr txBox="1"/>
          <p:nvPr/>
        </p:nvSpPr>
        <p:spPr>
          <a:xfrm>
            <a:off x="2227878" y="1695931"/>
            <a:ext cx="475451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" sz="5000" b="1" dirty="0">
                <a:solidFill>
                  <a:schemeClr val="bg1"/>
                </a:solidFill>
                <a:latin typeface="+mj-lt"/>
                <a:ea typeface="Oswald"/>
                <a:cs typeface="Oswald"/>
                <a:sym typeface="Oswald"/>
              </a:rPr>
              <a:t>QUILL </a:t>
            </a:r>
            <a:endParaRPr lang="en-US" sz="5000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97003B7-7499-4D0B-8586-51BE98BAA06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73369" y="-4207911"/>
            <a:ext cx="3406762" cy="5903842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99CBF873-FAD7-417B-847A-D84B9EAF9992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75000"/>
          </a:blip>
          <a:stretch>
            <a:fillRect/>
          </a:stretch>
        </p:blipFill>
        <p:spPr>
          <a:xfrm rot="2307118">
            <a:off x="-5539254" y="-3703990"/>
            <a:ext cx="2982154" cy="5168006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4CC66120-5AD7-4C09-BC29-786189E071E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9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494112" y="-4074045"/>
            <a:ext cx="4357496" cy="3911601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678413BE-929A-4637-8D49-969461D9DB2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96039" y="-2563301"/>
            <a:ext cx="2309209" cy="2400857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E923ACF-43A8-4E31-9E23-BE678199064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3252689" y="814868"/>
            <a:ext cx="2341832" cy="2434774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F8061207-439B-4DC8-8323-7B7C16080CD4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68000"/>
          </a:blip>
          <a:stretch>
            <a:fillRect/>
          </a:stretch>
        </p:blipFill>
        <p:spPr>
          <a:xfrm>
            <a:off x="4450926" y="5449380"/>
            <a:ext cx="5954328" cy="5143500"/>
          </a:xfrm>
          <a:prstGeom prst="rect">
            <a:avLst/>
          </a:prstGeom>
        </p:spPr>
      </p:pic>
      <p:sp>
        <p:nvSpPr>
          <p:cNvPr id="16" name="Google Shape;55;p13">
            <a:extLst>
              <a:ext uri="{FF2B5EF4-FFF2-40B4-BE49-F238E27FC236}">
                <a16:creationId xmlns:a16="http://schemas.microsoft.com/office/drawing/2014/main" id="{432125B9-5A98-4228-B08A-0F286FDD221C}"/>
              </a:ext>
            </a:extLst>
          </p:cNvPr>
          <p:cNvSpPr txBox="1"/>
          <p:nvPr/>
        </p:nvSpPr>
        <p:spPr>
          <a:xfrm>
            <a:off x="5337844" y="3910464"/>
            <a:ext cx="3563670" cy="1695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bg1"/>
                </a:solidFill>
                <a:latin typeface="+mj-lt"/>
                <a:ea typeface="Proxima Nova Semibold"/>
                <a:cs typeface="Proxima Nova Semibold"/>
                <a:sym typeface="Proxima Nova Semibold"/>
              </a:rPr>
              <a:t>Выполнили:</a:t>
            </a:r>
          </a:p>
          <a:p>
            <a:pPr marL="0" lvl="0" indent="0" algn="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bg1"/>
                </a:solidFill>
                <a:latin typeface="+mj-lt"/>
                <a:ea typeface="Proxima Nova Semibold"/>
                <a:cs typeface="Proxima Nova Semibold"/>
                <a:sym typeface="Proxima Nova Semibold"/>
              </a:rPr>
              <a:t>Юмагужина Д., Иванова Л., </a:t>
            </a:r>
          </a:p>
          <a:p>
            <a:pPr marL="0" lvl="0" indent="0" algn="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bg1"/>
                </a:solidFill>
                <a:latin typeface="+mj-lt"/>
                <a:ea typeface="Proxima Nova Semibold"/>
                <a:cs typeface="Proxima Nova Semibold"/>
                <a:sym typeface="Proxima Nova Semibold"/>
              </a:rPr>
              <a:t>Семенов М., Худяков Р.</a:t>
            </a:r>
            <a:br>
              <a:rPr lang="ru-RU" sz="1300" dirty="0">
                <a:solidFill>
                  <a:schemeClr val="bg1"/>
                </a:solidFill>
                <a:latin typeface="+mj-lt"/>
                <a:ea typeface="Proxima Nova Semibold"/>
                <a:cs typeface="Proxima Nova Semibold"/>
                <a:sym typeface="Proxima Nova Semibold"/>
              </a:rPr>
            </a:br>
            <a:endParaRPr lang="ru-RU" sz="1300" dirty="0">
              <a:solidFill>
                <a:schemeClr val="bg1"/>
              </a:solidFill>
              <a:latin typeface="+mj-lt"/>
              <a:ea typeface="Proxima Nova Semibold"/>
              <a:cs typeface="Proxima Nova Semibold"/>
              <a:sym typeface="Proxima Nova Semibold"/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582038F8-FBF4-48D4-8355-ADCF57DA7415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75000"/>
          </a:blip>
          <a:stretch>
            <a:fillRect/>
          </a:stretch>
        </p:blipFill>
        <p:spPr>
          <a:xfrm rot="2307118">
            <a:off x="-1394826" y="-2432620"/>
            <a:ext cx="2982154" cy="51680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D9C05DDD-6A4F-49F2-B624-1C9D16F5932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 flipH="1">
            <a:off x="-519160" y="1110648"/>
            <a:ext cx="4532245" cy="4456211"/>
          </a:xfrm>
          <a:prstGeom prst="rect">
            <a:avLst/>
          </a:prstGeom>
        </p:spPr>
      </p:pic>
      <p:pic>
        <p:nvPicPr>
          <p:cNvPr id="6150" name="Picture 6">
            <a:extLst>
              <a:ext uri="{FF2B5EF4-FFF2-40B4-BE49-F238E27FC236}">
                <a16:creationId xmlns:a16="http://schemas.microsoft.com/office/drawing/2014/main" id="{54B9607F-5FD8-4813-BE6E-EE3FE10E65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 amt="11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33980" y="-1912775"/>
            <a:ext cx="1635799" cy="1635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219E918C-489C-41CC-8B29-DB3D45ECE9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876656" y="-3934623"/>
            <a:ext cx="360394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6F0B585F-58F5-49A9-B227-B392F8A097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581078" y="-2147431"/>
            <a:ext cx="4357496" cy="6971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E363826-8332-4FA6-A837-A263C0B17F5F}"/>
              </a:ext>
            </a:extLst>
          </p:cNvPr>
          <p:cNvSpPr txBox="1"/>
          <p:nvPr/>
        </p:nvSpPr>
        <p:spPr>
          <a:xfrm>
            <a:off x="-228615" y="336948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ru-RU" dirty="0"/>
          </a:p>
        </p:txBody>
      </p:sp>
      <p:sp>
        <p:nvSpPr>
          <p:cNvPr id="15" name="Google Shape;61;p14">
            <a:extLst>
              <a:ext uri="{FF2B5EF4-FFF2-40B4-BE49-F238E27FC236}">
                <a16:creationId xmlns:a16="http://schemas.microsoft.com/office/drawing/2014/main" id="{360850AE-EED2-40A3-975B-B4693F5D0ADF}"/>
              </a:ext>
            </a:extLst>
          </p:cNvPr>
          <p:cNvSpPr txBox="1"/>
          <p:nvPr/>
        </p:nvSpPr>
        <p:spPr>
          <a:xfrm>
            <a:off x="1094481" y="1208877"/>
            <a:ext cx="7344320" cy="2412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dirty="0">
                <a:solidFill>
                  <a:schemeClr val="bg1"/>
                </a:solidFill>
                <a:latin typeface="+mj-lt"/>
                <a:ea typeface="Roboto"/>
                <a:cs typeface="Roboto"/>
                <a:sym typeface="Roboto"/>
              </a:rPr>
              <a:t>Тема: </a:t>
            </a: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dirty="0">
                <a:solidFill>
                  <a:schemeClr val="bg1"/>
                </a:solidFill>
                <a:latin typeface="+mj-lt"/>
                <a:ea typeface="Roboto"/>
                <a:cs typeface="Roboto"/>
                <a:sym typeface="Roboto"/>
              </a:rPr>
              <a:t>Информационная платформа для публицистических статей «</a:t>
            </a:r>
            <a:r>
              <a:rPr lang="ru-RU" dirty="0" err="1">
                <a:solidFill>
                  <a:schemeClr val="bg1"/>
                </a:solidFill>
                <a:latin typeface="+mj-lt"/>
                <a:ea typeface="Roboto"/>
                <a:cs typeface="Roboto"/>
                <a:sym typeface="Roboto"/>
              </a:rPr>
              <a:t>Quill</a:t>
            </a:r>
            <a:r>
              <a:rPr lang="ru-RU" dirty="0">
                <a:solidFill>
                  <a:schemeClr val="bg1"/>
                </a:solidFill>
                <a:latin typeface="+mj-lt"/>
                <a:ea typeface="Roboto"/>
                <a:cs typeface="Roboto"/>
                <a:sym typeface="Roboto"/>
              </a:rPr>
              <a:t>»</a:t>
            </a: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ru-RU" dirty="0">
              <a:solidFill>
                <a:schemeClr val="bg1"/>
              </a:solidFill>
              <a:latin typeface="+mj-lt"/>
              <a:ea typeface="Roboto"/>
              <a:cs typeface="Roboto"/>
              <a:sym typeface="Roboto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dirty="0">
                <a:solidFill>
                  <a:schemeClr val="bg1"/>
                </a:solidFill>
                <a:latin typeface="+mj-lt"/>
                <a:ea typeface="Roboto"/>
                <a:cs typeface="Roboto"/>
                <a:sym typeface="Roboto"/>
              </a:rPr>
              <a:t>Задача:</a:t>
            </a: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dirty="0">
                <a:solidFill>
                  <a:schemeClr val="bg1"/>
                </a:solidFill>
                <a:latin typeface="+mj-lt"/>
                <a:ea typeface="Roboto"/>
                <a:cs typeface="Roboto"/>
                <a:sym typeface="Roboto"/>
              </a:rPr>
              <a:t>Разработать систему, предоставляющую функционал для:</a:t>
            </a:r>
          </a:p>
          <a:p>
            <a:pPr lvl="0" indent="182563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50000"/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+mj-lt"/>
                <a:ea typeface="Roboto"/>
                <a:cs typeface="Roboto"/>
                <a:sym typeface="Roboto"/>
              </a:rPr>
              <a:t>Публикации авторских публицистических материалов.</a:t>
            </a:r>
          </a:p>
          <a:p>
            <a:pPr lvl="0" indent="182563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50000"/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+mj-lt"/>
                <a:ea typeface="Roboto"/>
                <a:cs typeface="Roboto"/>
                <a:sym typeface="Roboto"/>
              </a:rPr>
              <a:t>Верификации и регистрации авторов.</a:t>
            </a:r>
          </a:p>
          <a:p>
            <a:pPr lvl="0" indent="182563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50000"/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+mj-lt"/>
                <a:ea typeface="Roboto"/>
                <a:cs typeface="Roboto"/>
                <a:sym typeface="Roboto"/>
              </a:rPr>
              <a:t>Агрегации статей в едином каталоге.</a:t>
            </a:r>
          </a:p>
          <a:p>
            <a:pPr lvl="0" indent="182563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50000"/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+mj-lt"/>
                <a:ea typeface="Roboto"/>
                <a:cs typeface="Roboto"/>
                <a:sym typeface="Roboto"/>
              </a:rPr>
              <a:t>Взаимодействия с контентом.</a:t>
            </a:r>
            <a:endParaRPr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1" name="Google Shape;60;p14">
            <a:extLst>
              <a:ext uri="{FF2B5EF4-FFF2-40B4-BE49-F238E27FC236}">
                <a16:creationId xmlns:a16="http://schemas.microsoft.com/office/drawing/2014/main" id="{5F655836-3C0B-4DC2-A888-3C5FAA908019}"/>
              </a:ext>
            </a:extLst>
          </p:cNvPr>
          <p:cNvSpPr txBox="1">
            <a:spLocks/>
          </p:cNvSpPr>
          <p:nvPr/>
        </p:nvSpPr>
        <p:spPr>
          <a:xfrm>
            <a:off x="577121" y="490836"/>
            <a:ext cx="8132163" cy="592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SzPts val="990"/>
            </a:pPr>
            <a:r>
              <a:rPr lang="ru-RU" sz="3000" b="1" dirty="0">
                <a:solidFill>
                  <a:schemeClr val="bg1"/>
                </a:solidFill>
                <a:latin typeface="+mj-lt"/>
              </a:rPr>
              <a:t>ТЕМА ПРОЕКТА И ПОСТАНОВКА ЗАДАЧИ</a:t>
            </a:r>
            <a:endParaRPr lang="en-US" sz="3000" b="1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C1285F6B-10DE-472E-94EE-6CFB72D3A07A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68000"/>
          </a:blip>
          <a:stretch>
            <a:fillRect/>
          </a:stretch>
        </p:blipFill>
        <p:spPr>
          <a:xfrm rot="15236408">
            <a:off x="-4773943" y="10337609"/>
            <a:ext cx="8596705" cy="7426053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DAE60283-C645-4C83-A44B-7D548C8F9ACF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aturation sat="9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798268" y="3187699"/>
            <a:ext cx="4086071" cy="3911601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5C9669BD-5E09-4DAF-9DF9-77F325BB3F8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9436" y="-1494363"/>
            <a:ext cx="2341832" cy="243477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DF2EB1B-66B1-4B6A-84EC-4318DB6D8289}"/>
              </a:ext>
            </a:extLst>
          </p:cNvPr>
          <p:cNvSpPr txBox="1"/>
          <p:nvPr/>
        </p:nvSpPr>
        <p:spPr>
          <a:xfrm>
            <a:off x="8372475" y="467915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2196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6E363826-8332-4FA6-A837-A263C0B17F5F}"/>
              </a:ext>
            </a:extLst>
          </p:cNvPr>
          <p:cNvSpPr txBox="1"/>
          <p:nvPr/>
        </p:nvSpPr>
        <p:spPr>
          <a:xfrm>
            <a:off x="-228615" y="336948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ru-RU" dirty="0"/>
          </a:p>
        </p:txBody>
      </p:sp>
      <p:sp>
        <p:nvSpPr>
          <p:cNvPr id="11" name="Google Shape;60;p14">
            <a:extLst>
              <a:ext uri="{FF2B5EF4-FFF2-40B4-BE49-F238E27FC236}">
                <a16:creationId xmlns:a16="http://schemas.microsoft.com/office/drawing/2014/main" id="{5F655836-3C0B-4DC2-A888-3C5FAA908019}"/>
              </a:ext>
            </a:extLst>
          </p:cNvPr>
          <p:cNvSpPr txBox="1">
            <a:spLocks/>
          </p:cNvSpPr>
          <p:nvPr/>
        </p:nvSpPr>
        <p:spPr>
          <a:xfrm>
            <a:off x="2008671" y="453307"/>
            <a:ext cx="6961530" cy="592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>
              <a:buSzPts val="990"/>
            </a:pPr>
            <a:r>
              <a:rPr lang="ru-RU" sz="3000" b="1" dirty="0">
                <a:solidFill>
                  <a:schemeClr val="bg1"/>
                </a:solidFill>
                <a:latin typeface="+mj-lt"/>
              </a:rPr>
              <a:t>ТЕХНОЛОГИИ РАЗРАБОТКИ</a:t>
            </a:r>
            <a:endParaRPr lang="en-US" sz="3000" b="1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40DBFF7-39F7-40A1-98DD-F9AE5E25DE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3535" y="1242034"/>
            <a:ext cx="1227311" cy="1227311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460D230-8F1E-448D-A59D-27FE53D2EE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9987" y="2251482"/>
            <a:ext cx="1359316" cy="1359316"/>
          </a:xfrm>
          <a:prstGeom prst="rect">
            <a:avLst/>
          </a:prstGeom>
          <a:effectLst/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0E15C63-C5BE-4AF0-BE4E-D344168BBE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6528" y="2486478"/>
            <a:ext cx="816454" cy="81645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C4E47010-6581-4834-A51C-DE37B6D70C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8131" y="3440288"/>
            <a:ext cx="1029208" cy="1029208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CA730611-0553-429B-B6BB-445A23EBC2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75726" y="3364897"/>
            <a:ext cx="1437283" cy="1437283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0B29FEB2-7DC6-4243-B95C-C685CFFD349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harpenSoften amount="-50000"/>
                    </a14:imgEffect>
                    <a14:imgEffect>
                      <a14:brightnessContrast bright="100000" contrast="7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792193" y="1392429"/>
            <a:ext cx="1051450" cy="1051450"/>
          </a:xfrm>
          <a:prstGeom prst="rect">
            <a:avLst/>
          </a:prstGeom>
          <a:effectLst/>
        </p:spPr>
      </p:pic>
      <p:pic>
        <p:nvPicPr>
          <p:cNvPr id="7170" name="Picture 2" descr="Picture background">
            <a:extLst>
              <a:ext uri="{FF2B5EF4-FFF2-40B4-BE49-F238E27FC236}">
                <a16:creationId xmlns:a16="http://schemas.microsoft.com/office/drawing/2014/main" id="{043BD67C-F209-44D9-BDA7-42CB564215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0245" y="2243185"/>
            <a:ext cx="2058418" cy="1029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20055DE4-48EA-4342-825E-79BF1FED7F05}"/>
              </a:ext>
            </a:extLst>
          </p:cNvPr>
          <p:cNvPicPr>
            <a:picLocks noChangeAspect="1"/>
          </p:cNvPicPr>
          <p:nvPr/>
        </p:nvPicPr>
        <p:blipFill>
          <a:blip r:embed="rId11">
            <a:alphaModFix amt="75000"/>
          </a:blip>
          <a:stretch>
            <a:fillRect/>
          </a:stretch>
        </p:blipFill>
        <p:spPr>
          <a:xfrm rot="2307118">
            <a:off x="6553651" y="987575"/>
            <a:ext cx="3351064" cy="5807319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8FE180B4-D095-4C73-BDA4-5FCB6EFEBA66}"/>
              </a:ext>
            </a:extLst>
          </p:cNvPr>
          <p:cNvPicPr>
            <a:picLocks noChangeAspect="1"/>
          </p:cNvPicPr>
          <p:nvPr/>
        </p:nvPicPr>
        <p:blipFill>
          <a:blip r:embed="rId11">
            <a:alphaModFix amt="75000"/>
          </a:blip>
          <a:stretch>
            <a:fillRect/>
          </a:stretch>
        </p:blipFill>
        <p:spPr>
          <a:xfrm rot="11585701">
            <a:off x="-1638988" y="-83277"/>
            <a:ext cx="3351064" cy="580731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00A2EE5-DC67-43DE-822C-DF145DFE9FB8}"/>
              </a:ext>
            </a:extLst>
          </p:cNvPr>
          <p:cNvSpPr txBox="1"/>
          <p:nvPr/>
        </p:nvSpPr>
        <p:spPr>
          <a:xfrm>
            <a:off x="8372475" y="467915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40670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67BEA455-5150-4846-9BDA-A92CC39735B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8000"/>
          </a:blip>
          <a:stretch>
            <a:fillRect/>
          </a:stretch>
        </p:blipFill>
        <p:spPr>
          <a:xfrm rot="6512805">
            <a:off x="6478644" y="-1702086"/>
            <a:ext cx="5077240" cy="438584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E363826-8332-4FA6-A837-A263C0B17F5F}"/>
              </a:ext>
            </a:extLst>
          </p:cNvPr>
          <p:cNvSpPr txBox="1"/>
          <p:nvPr/>
        </p:nvSpPr>
        <p:spPr>
          <a:xfrm>
            <a:off x="-228615" y="336948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ru-RU" dirty="0"/>
          </a:p>
        </p:txBody>
      </p:sp>
      <p:sp>
        <p:nvSpPr>
          <p:cNvPr id="11" name="Google Shape;60;p14">
            <a:extLst>
              <a:ext uri="{FF2B5EF4-FFF2-40B4-BE49-F238E27FC236}">
                <a16:creationId xmlns:a16="http://schemas.microsoft.com/office/drawing/2014/main" id="{5F655836-3C0B-4DC2-A888-3C5FAA908019}"/>
              </a:ext>
            </a:extLst>
          </p:cNvPr>
          <p:cNvSpPr txBox="1">
            <a:spLocks/>
          </p:cNvSpPr>
          <p:nvPr/>
        </p:nvSpPr>
        <p:spPr>
          <a:xfrm>
            <a:off x="2057385" y="0"/>
            <a:ext cx="6961530" cy="592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>
              <a:buSzPts val="990"/>
            </a:pPr>
            <a:r>
              <a:rPr lang="ru-RU" sz="3000" b="1" dirty="0">
                <a:solidFill>
                  <a:schemeClr val="bg1"/>
                </a:solidFill>
                <a:latin typeface="+mj-lt"/>
              </a:rPr>
              <a:t>АРХИТЕКТУРА ПРОЕКТА</a:t>
            </a:r>
            <a:endParaRPr lang="en-US" sz="3000" b="1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CF3017EA-61C7-4543-9CFB-B26147C7BB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52" y="644725"/>
            <a:ext cx="9083366" cy="4330337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3902008-B60B-4954-B1F2-D6CDA0063EA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8000"/>
          </a:blip>
          <a:stretch>
            <a:fillRect/>
          </a:stretch>
        </p:blipFill>
        <p:spPr>
          <a:xfrm rot="18431657">
            <a:off x="-3844393" y="171626"/>
            <a:ext cx="7231555" cy="62468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95B91CC-27CD-4872-AFF0-DADF4BE29D5D}"/>
              </a:ext>
            </a:extLst>
          </p:cNvPr>
          <p:cNvSpPr txBox="1"/>
          <p:nvPr/>
        </p:nvSpPr>
        <p:spPr>
          <a:xfrm>
            <a:off x="8372475" y="467915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1247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67BEA455-5150-4846-9BDA-A92CC39735B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8000"/>
          </a:blip>
          <a:stretch>
            <a:fillRect/>
          </a:stretch>
        </p:blipFill>
        <p:spPr>
          <a:xfrm rot="6512805">
            <a:off x="6478644" y="-1702086"/>
            <a:ext cx="5077240" cy="438584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E363826-8332-4FA6-A837-A263C0B17F5F}"/>
              </a:ext>
            </a:extLst>
          </p:cNvPr>
          <p:cNvSpPr txBox="1"/>
          <p:nvPr/>
        </p:nvSpPr>
        <p:spPr>
          <a:xfrm>
            <a:off x="-228615" y="336948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ru-RU" dirty="0"/>
          </a:p>
        </p:txBody>
      </p:sp>
      <p:sp>
        <p:nvSpPr>
          <p:cNvPr id="11" name="Google Shape;60;p14">
            <a:extLst>
              <a:ext uri="{FF2B5EF4-FFF2-40B4-BE49-F238E27FC236}">
                <a16:creationId xmlns:a16="http://schemas.microsoft.com/office/drawing/2014/main" id="{5F655836-3C0B-4DC2-A888-3C5FAA908019}"/>
              </a:ext>
            </a:extLst>
          </p:cNvPr>
          <p:cNvSpPr txBox="1">
            <a:spLocks/>
          </p:cNvSpPr>
          <p:nvPr/>
        </p:nvSpPr>
        <p:spPr>
          <a:xfrm>
            <a:off x="2214780" y="0"/>
            <a:ext cx="6961530" cy="592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>
              <a:buSzPts val="990"/>
            </a:pPr>
            <a:r>
              <a:rPr lang="ru-RU" sz="3000" b="1" dirty="0">
                <a:solidFill>
                  <a:schemeClr val="bg1"/>
                </a:solidFill>
                <a:latin typeface="+mj-lt"/>
              </a:rPr>
              <a:t>СХЕМА БАЗЫ ДАННЫХ</a:t>
            </a:r>
            <a:endParaRPr lang="en-US" sz="3000" b="1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3902008-B60B-4954-B1F2-D6CDA0063EA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8000"/>
          </a:blip>
          <a:stretch>
            <a:fillRect/>
          </a:stretch>
        </p:blipFill>
        <p:spPr>
          <a:xfrm rot="18431657">
            <a:off x="-3844393" y="171626"/>
            <a:ext cx="7231555" cy="624680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76C1A62D-E6AE-4D5E-AF26-B8E3D69123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0801" y="644725"/>
            <a:ext cx="4802398" cy="4087478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B434F28-075D-4E1D-AA94-E58471927536}"/>
              </a:ext>
            </a:extLst>
          </p:cNvPr>
          <p:cNvSpPr txBox="1"/>
          <p:nvPr/>
        </p:nvSpPr>
        <p:spPr>
          <a:xfrm>
            <a:off x="8372475" y="467915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5923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67BEA455-5150-4846-9BDA-A92CC39735B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8000"/>
          </a:blip>
          <a:stretch>
            <a:fillRect/>
          </a:stretch>
        </p:blipFill>
        <p:spPr>
          <a:xfrm rot="6512805">
            <a:off x="6478644" y="-1702086"/>
            <a:ext cx="5077240" cy="438584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E363826-8332-4FA6-A837-A263C0B17F5F}"/>
              </a:ext>
            </a:extLst>
          </p:cNvPr>
          <p:cNvSpPr txBox="1"/>
          <p:nvPr/>
        </p:nvSpPr>
        <p:spPr>
          <a:xfrm>
            <a:off x="-228615" y="336948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ru-RU" dirty="0"/>
          </a:p>
        </p:txBody>
      </p:sp>
      <p:sp>
        <p:nvSpPr>
          <p:cNvPr id="11" name="Google Shape;60;p14">
            <a:extLst>
              <a:ext uri="{FF2B5EF4-FFF2-40B4-BE49-F238E27FC236}">
                <a16:creationId xmlns:a16="http://schemas.microsoft.com/office/drawing/2014/main" id="{5F655836-3C0B-4DC2-A888-3C5FAA908019}"/>
              </a:ext>
            </a:extLst>
          </p:cNvPr>
          <p:cNvSpPr txBox="1">
            <a:spLocks/>
          </p:cNvSpPr>
          <p:nvPr/>
        </p:nvSpPr>
        <p:spPr>
          <a:xfrm>
            <a:off x="1622675" y="0"/>
            <a:ext cx="6961530" cy="592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>
              <a:buSzPts val="990"/>
            </a:pPr>
            <a:r>
              <a:rPr lang="ru-RU" sz="3000" b="1" dirty="0">
                <a:solidFill>
                  <a:schemeClr val="bg1"/>
                </a:solidFill>
                <a:latin typeface="+mj-lt"/>
              </a:rPr>
              <a:t>ДИАГРАММА ПРЕЦЕНДЕНТОВ</a:t>
            </a:r>
            <a:endParaRPr lang="en-US" sz="3000" b="1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3902008-B60B-4954-B1F2-D6CDA0063EA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8000"/>
          </a:blip>
          <a:stretch>
            <a:fillRect/>
          </a:stretch>
        </p:blipFill>
        <p:spPr>
          <a:xfrm rot="18431657">
            <a:off x="-3844393" y="171626"/>
            <a:ext cx="7231555" cy="624680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2145FA4-063A-4B18-9003-16EEF86BA4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8504" y="527601"/>
            <a:ext cx="5178949" cy="461589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D035489-BA72-4A43-B066-2BACCCF0719F}"/>
              </a:ext>
            </a:extLst>
          </p:cNvPr>
          <p:cNvSpPr txBox="1"/>
          <p:nvPr/>
        </p:nvSpPr>
        <p:spPr>
          <a:xfrm>
            <a:off x="8372475" y="467915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69226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32DAFEA1-8564-4D74-AFA7-F65001FCB0C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8000"/>
          </a:blip>
          <a:stretch>
            <a:fillRect/>
          </a:stretch>
        </p:blipFill>
        <p:spPr>
          <a:xfrm rot="10511168">
            <a:off x="1601695" y="-564989"/>
            <a:ext cx="8596705" cy="7426053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036BA6A-9CB8-48D3-BAB6-6555D4BD49F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2888" t="40463" r="31692" b="-1"/>
          <a:stretch/>
        </p:blipFill>
        <p:spPr>
          <a:xfrm>
            <a:off x="3372786" y="3931518"/>
            <a:ext cx="2848131" cy="1081950"/>
          </a:xfrm>
          <a:prstGeom prst="rect">
            <a:avLst/>
          </a:prstGeom>
        </p:spPr>
      </p:pic>
      <p:sp>
        <p:nvSpPr>
          <p:cNvPr id="22" name="Google Shape;60;p14">
            <a:extLst>
              <a:ext uri="{FF2B5EF4-FFF2-40B4-BE49-F238E27FC236}">
                <a16:creationId xmlns:a16="http://schemas.microsoft.com/office/drawing/2014/main" id="{7352A7B8-6471-4C4C-88E3-962748A0C913}"/>
              </a:ext>
            </a:extLst>
          </p:cNvPr>
          <p:cNvSpPr txBox="1">
            <a:spLocks/>
          </p:cNvSpPr>
          <p:nvPr/>
        </p:nvSpPr>
        <p:spPr>
          <a:xfrm>
            <a:off x="2504026" y="78012"/>
            <a:ext cx="4585649" cy="592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>
              <a:buSzPts val="990"/>
            </a:pPr>
            <a:r>
              <a:rPr lang="ru-RU" sz="3000" b="1" dirty="0">
                <a:solidFill>
                  <a:schemeClr val="bg1"/>
                </a:solidFill>
                <a:latin typeface="+mj-lt"/>
              </a:rPr>
              <a:t>ГЛАВНАЯ СТРАНИЦА</a:t>
            </a:r>
            <a:endParaRPr lang="en-US" sz="3000" b="1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29B4ED1-7F1B-4B53-BB9D-D7F8B38588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7067" y="737691"/>
            <a:ext cx="7093410" cy="373480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F1CDA49-D2EE-4B29-9FA1-AD119F58E17B}"/>
              </a:ext>
            </a:extLst>
          </p:cNvPr>
          <p:cNvSpPr txBox="1"/>
          <p:nvPr/>
        </p:nvSpPr>
        <p:spPr>
          <a:xfrm>
            <a:off x="8372475" y="467915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57053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32DAFEA1-8564-4D74-AFA7-F65001FCB0C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8000"/>
          </a:blip>
          <a:stretch>
            <a:fillRect/>
          </a:stretch>
        </p:blipFill>
        <p:spPr>
          <a:xfrm rot="10511168">
            <a:off x="1601695" y="-564989"/>
            <a:ext cx="8596705" cy="7426053"/>
          </a:xfrm>
          <a:prstGeom prst="rect">
            <a:avLst/>
          </a:prstGeom>
        </p:spPr>
      </p:pic>
      <p:sp>
        <p:nvSpPr>
          <p:cNvPr id="22" name="Google Shape;60;p14">
            <a:extLst>
              <a:ext uri="{FF2B5EF4-FFF2-40B4-BE49-F238E27FC236}">
                <a16:creationId xmlns:a16="http://schemas.microsoft.com/office/drawing/2014/main" id="{7352A7B8-6471-4C4C-88E3-962748A0C913}"/>
              </a:ext>
            </a:extLst>
          </p:cNvPr>
          <p:cNvSpPr txBox="1">
            <a:spLocks/>
          </p:cNvSpPr>
          <p:nvPr/>
        </p:nvSpPr>
        <p:spPr>
          <a:xfrm>
            <a:off x="2420912" y="99726"/>
            <a:ext cx="4482060" cy="592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>
              <a:buSzPts val="990"/>
            </a:pPr>
            <a:r>
              <a:rPr lang="ru-RU" sz="3000" b="1" dirty="0">
                <a:solidFill>
                  <a:schemeClr val="bg1"/>
                </a:solidFill>
                <a:latin typeface="+mj-lt"/>
              </a:rPr>
              <a:t>СТРАНИЦА ПРОФИЛЯ</a:t>
            </a:r>
            <a:endParaRPr lang="en-US" sz="3000" b="1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6438EEC-2240-4621-A297-7DEE7C4C39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107" y="737691"/>
            <a:ext cx="8103785" cy="37525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9AF7EC8-0C8D-4BB3-A5ED-11DC6CEA80AC}"/>
              </a:ext>
            </a:extLst>
          </p:cNvPr>
          <p:cNvSpPr txBox="1"/>
          <p:nvPr/>
        </p:nvSpPr>
        <p:spPr>
          <a:xfrm>
            <a:off x="8372475" y="467915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4917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32DAFEA1-8564-4D74-AFA7-F65001FCB0C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8000"/>
          </a:blip>
          <a:stretch>
            <a:fillRect/>
          </a:stretch>
        </p:blipFill>
        <p:spPr>
          <a:xfrm rot="10511168">
            <a:off x="1601695" y="-564989"/>
            <a:ext cx="8596705" cy="7426053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0E0505D-EFF1-40FD-B821-4B64A217B2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787" y="521845"/>
            <a:ext cx="8631179" cy="4099810"/>
          </a:xfrm>
          <a:prstGeom prst="rect">
            <a:avLst/>
          </a:prstGeom>
        </p:spPr>
      </p:pic>
      <p:sp>
        <p:nvSpPr>
          <p:cNvPr id="22" name="Google Shape;60;p14">
            <a:extLst>
              <a:ext uri="{FF2B5EF4-FFF2-40B4-BE49-F238E27FC236}">
                <a16:creationId xmlns:a16="http://schemas.microsoft.com/office/drawing/2014/main" id="{7352A7B8-6471-4C4C-88E3-962748A0C913}"/>
              </a:ext>
            </a:extLst>
          </p:cNvPr>
          <p:cNvSpPr txBox="1">
            <a:spLocks/>
          </p:cNvSpPr>
          <p:nvPr/>
        </p:nvSpPr>
        <p:spPr>
          <a:xfrm>
            <a:off x="2420912" y="99726"/>
            <a:ext cx="4482060" cy="592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>
              <a:buSzPts val="990"/>
            </a:pPr>
            <a:r>
              <a:rPr lang="ru-RU" sz="3000" b="1" dirty="0">
                <a:solidFill>
                  <a:schemeClr val="bg1"/>
                </a:solidFill>
                <a:latin typeface="+mj-lt"/>
              </a:rPr>
              <a:t>СТРАНИЦА СТАТЬИ</a:t>
            </a:r>
            <a:endParaRPr lang="en-US" sz="30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853CF4-1A8D-4B88-A24C-1E60F1D0C3A6}"/>
              </a:ext>
            </a:extLst>
          </p:cNvPr>
          <p:cNvSpPr txBox="1"/>
          <p:nvPr/>
        </p:nvSpPr>
        <p:spPr>
          <a:xfrm>
            <a:off x="8372475" y="467915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4350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32DAFEA1-8564-4D74-AFA7-F65001FCB0C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8000"/>
          </a:blip>
          <a:stretch>
            <a:fillRect/>
          </a:stretch>
        </p:blipFill>
        <p:spPr>
          <a:xfrm rot="10511168">
            <a:off x="1601695" y="-564989"/>
            <a:ext cx="8596705" cy="7426053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9C88392-12E8-40C9-88F9-F7959D1629F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3744"/>
          <a:stretch/>
        </p:blipFill>
        <p:spPr>
          <a:xfrm>
            <a:off x="765642" y="1236688"/>
            <a:ext cx="4369570" cy="3709653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8D84F2F-1E29-451A-88E3-3BBF672095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5212" y="497514"/>
            <a:ext cx="3402593" cy="4728431"/>
          </a:xfrm>
          <a:prstGeom prst="rect">
            <a:avLst/>
          </a:prstGeom>
        </p:spPr>
      </p:pic>
      <p:sp>
        <p:nvSpPr>
          <p:cNvPr id="22" name="Google Shape;60;p14">
            <a:extLst>
              <a:ext uri="{FF2B5EF4-FFF2-40B4-BE49-F238E27FC236}">
                <a16:creationId xmlns:a16="http://schemas.microsoft.com/office/drawing/2014/main" id="{7352A7B8-6471-4C4C-88E3-962748A0C913}"/>
              </a:ext>
            </a:extLst>
          </p:cNvPr>
          <p:cNvSpPr txBox="1">
            <a:spLocks/>
          </p:cNvSpPr>
          <p:nvPr/>
        </p:nvSpPr>
        <p:spPr>
          <a:xfrm>
            <a:off x="150548" y="99725"/>
            <a:ext cx="8993451" cy="592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>
              <a:buSzPts val="990"/>
            </a:pPr>
            <a:r>
              <a:rPr lang="ru-RU" sz="3000" b="1" dirty="0">
                <a:solidFill>
                  <a:schemeClr val="bg1"/>
                </a:solidFill>
                <a:latin typeface="+mj-lt"/>
              </a:rPr>
              <a:t>СТРАНИЦА СОЗДАНИЯ И РЕДАКТИРОВАНИЯ СТАТЬИ</a:t>
            </a:r>
            <a:endParaRPr lang="en-US" sz="30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FF525F-DD65-417F-ACFB-8AA0F7D0CC5D}"/>
              </a:ext>
            </a:extLst>
          </p:cNvPr>
          <p:cNvSpPr txBox="1"/>
          <p:nvPr/>
        </p:nvSpPr>
        <p:spPr>
          <a:xfrm>
            <a:off x="8372475" y="4679156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55639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3B0C194-EDE5-4063-A4F2-E3F3707F599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9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798268" y="3187699"/>
            <a:ext cx="4086071" cy="3911601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D0F165E-6119-4CD5-9265-69A4A768F0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3024" y="-880439"/>
            <a:ext cx="2341832" cy="243477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E363826-8332-4FA6-A837-A263C0B17F5F}"/>
              </a:ext>
            </a:extLst>
          </p:cNvPr>
          <p:cNvSpPr txBox="1"/>
          <p:nvPr/>
        </p:nvSpPr>
        <p:spPr>
          <a:xfrm>
            <a:off x="-228615" y="336948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ru-RU" dirty="0"/>
          </a:p>
        </p:txBody>
      </p:sp>
      <p:sp>
        <p:nvSpPr>
          <p:cNvPr id="11" name="Google Shape;60;p14">
            <a:extLst>
              <a:ext uri="{FF2B5EF4-FFF2-40B4-BE49-F238E27FC236}">
                <a16:creationId xmlns:a16="http://schemas.microsoft.com/office/drawing/2014/main" id="{5F655836-3C0B-4DC2-A888-3C5FAA908019}"/>
              </a:ext>
            </a:extLst>
          </p:cNvPr>
          <p:cNvSpPr txBox="1">
            <a:spLocks/>
          </p:cNvSpPr>
          <p:nvPr/>
        </p:nvSpPr>
        <p:spPr>
          <a:xfrm>
            <a:off x="2057385" y="0"/>
            <a:ext cx="6961530" cy="592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>
              <a:buSzPts val="990"/>
            </a:pPr>
            <a:r>
              <a:rPr lang="en-US" sz="3000" b="1" dirty="0">
                <a:solidFill>
                  <a:schemeClr val="bg1"/>
                </a:solidFill>
                <a:latin typeface="+mj-lt"/>
              </a:rPr>
              <a:t>USABILITY </a:t>
            </a:r>
            <a:r>
              <a:rPr lang="ru-RU" sz="3000" b="1" dirty="0">
                <a:solidFill>
                  <a:schemeClr val="bg1"/>
                </a:solidFill>
                <a:latin typeface="+mj-lt"/>
              </a:rPr>
              <a:t>ТЕСТИРОВАНИЕ</a:t>
            </a:r>
            <a:endParaRPr lang="en-US" sz="3000" b="1" dirty="0">
              <a:solidFill>
                <a:schemeClr val="bg1"/>
              </a:solidFill>
              <a:latin typeface="+mj-lt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BAE0C427-7114-4588-B0B3-BA22D41DB1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3194055"/>
              </p:ext>
            </p:extLst>
          </p:nvPr>
        </p:nvGraphicFramePr>
        <p:xfrm>
          <a:off x="1684451" y="749592"/>
          <a:ext cx="6028573" cy="4056960"/>
        </p:xfrm>
        <a:graphic>
          <a:graphicData uri="http://schemas.openxmlformats.org/drawingml/2006/table">
            <a:tbl>
              <a:tblPr firstRow="1" firstCol="1" bandRow="1">
                <a:tableStyleId>{F5AB1C69-6EDB-4FF4-983F-18BD219EF322}</a:tableStyleId>
              </a:tblPr>
              <a:tblGrid>
                <a:gridCol w="3035423">
                  <a:extLst>
                    <a:ext uri="{9D8B030D-6E8A-4147-A177-3AD203B41FA5}">
                      <a16:colId xmlns:a16="http://schemas.microsoft.com/office/drawing/2014/main" val="2088634521"/>
                    </a:ext>
                  </a:extLst>
                </a:gridCol>
                <a:gridCol w="1511888">
                  <a:extLst>
                    <a:ext uri="{9D8B030D-6E8A-4147-A177-3AD203B41FA5}">
                      <a16:colId xmlns:a16="http://schemas.microsoft.com/office/drawing/2014/main" val="3768616649"/>
                    </a:ext>
                  </a:extLst>
                </a:gridCol>
                <a:gridCol w="1481262">
                  <a:extLst>
                    <a:ext uri="{9D8B030D-6E8A-4147-A177-3AD203B41FA5}">
                      <a16:colId xmlns:a16="http://schemas.microsoft.com/office/drawing/2014/main" val="3879781575"/>
                    </a:ext>
                  </a:extLst>
                </a:gridCol>
              </a:tblGrid>
              <a:tr h="38076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000" kern="100" dirty="0">
                          <a:effectLst/>
                        </a:rPr>
                        <a:t>ПРИНЦИП</a:t>
                      </a:r>
                      <a:endParaRPr lang="ru-RU" sz="10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9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000" kern="100" dirty="0">
                          <a:effectLst/>
                        </a:rPr>
                        <a:t>УЧАСТНИК</a:t>
                      </a:r>
                      <a:endParaRPr lang="ru-RU" sz="10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9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000" kern="100" dirty="0">
                          <a:effectLst/>
                        </a:rPr>
                        <a:t>ОБЩАЯ ОЦЕНКА</a:t>
                      </a:r>
                      <a:endParaRPr lang="ru-RU" sz="10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7721759"/>
                  </a:ext>
                </a:extLst>
              </a:tr>
              <a:tr h="38076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000" kern="100" dirty="0">
                          <a:effectLst/>
                        </a:rPr>
                        <a:t>ИНФОРМАТИВНОСТЬ СИСТЕМЫ</a:t>
                      </a:r>
                      <a:endParaRPr lang="ru-RU" sz="10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2419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solidFill>
                            <a:srgbClr val="006600"/>
                          </a:solidFill>
                          <a:effectLst/>
                        </a:rPr>
                        <a:t>Соответствует</a:t>
                      </a:r>
                      <a:endParaRPr lang="ru-RU" sz="1100" kern="100" dirty="0">
                        <a:solidFill>
                          <a:srgbClr val="006600"/>
                        </a:solidFill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Высокая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842808080"/>
                  </a:ext>
                </a:extLst>
              </a:tr>
              <a:tr h="37546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ru-RU" sz="1000" kern="100" dirty="0">
                          <a:effectLst/>
                        </a:rPr>
                        <a:t>ПРИБЛИЖЕННОСТЬ К РЕАЛЬНОМУ МИРУ</a:t>
                      </a:r>
                      <a:endParaRPr lang="ru-RU" sz="10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>
                    <a:solidFill>
                      <a:srgbClr val="2419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solidFill>
                            <a:srgbClr val="006600"/>
                          </a:solidFill>
                          <a:effectLst/>
                        </a:rPr>
                        <a:t>Соответствует</a:t>
                      </a:r>
                      <a:endParaRPr lang="ru-RU" sz="1100" kern="100" dirty="0">
                        <a:solidFill>
                          <a:srgbClr val="006600"/>
                        </a:solidFill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Высокая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extLst>
                  <a:ext uri="{0D108BD9-81ED-4DB2-BD59-A6C34878D82A}">
                    <a16:rowId xmlns:a16="http://schemas.microsoft.com/office/drawing/2014/main" val="633914898"/>
                  </a:ext>
                </a:extLst>
              </a:tr>
              <a:tr h="38076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ru-RU" sz="1000" kern="100" dirty="0">
                          <a:effectLst/>
                        </a:rPr>
                        <a:t>НАЛИЧИЕ ВЫХОДОВ ИЗ СОСТОЯНИЙ</a:t>
                      </a:r>
                      <a:endParaRPr lang="ru-RU" sz="10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>
                    <a:solidFill>
                      <a:srgbClr val="2419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solidFill>
                            <a:srgbClr val="C08E00"/>
                          </a:solidFill>
                          <a:effectLst/>
                        </a:rPr>
                        <a:t>Неполное</a:t>
                      </a:r>
                      <a:endParaRPr lang="ru-RU" sz="1100" kern="100" dirty="0">
                        <a:solidFill>
                          <a:srgbClr val="C08E00"/>
                        </a:solidFill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Средняя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extLst>
                  <a:ext uri="{0D108BD9-81ED-4DB2-BD59-A6C34878D82A}">
                    <a16:rowId xmlns:a16="http://schemas.microsoft.com/office/drawing/2014/main" val="1374263304"/>
                  </a:ext>
                </a:extLst>
              </a:tr>
              <a:tr h="34282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000" kern="100" dirty="0">
                          <a:effectLst/>
                        </a:rPr>
                        <a:t>ОДНОЗНАЧНОСТЬ</a:t>
                      </a:r>
                      <a:endParaRPr lang="ru-RU" sz="10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>
                    <a:solidFill>
                      <a:srgbClr val="2419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solidFill>
                            <a:srgbClr val="006600"/>
                          </a:solidFill>
                          <a:effectLst/>
                        </a:rPr>
                        <a:t>Соответствует</a:t>
                      </a:r>
                      <a:endParaRPr lang="ru-RU" sz="1100" kern="100" dirty="0">
                        <a:solidFill>
                          <a:srgbClr val="006600"/>
                        </a:solidFill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Высокая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extLst>
                  <a:ext uri="{0D108BD9-81ED-4DB2-BD59-A6C34878D82A}">
                    <a16:rowId xmlns:a16="http://schemas.microsoft.com/office/drawing/2014/main" val="919011126"/>
                  </a:ext>
                </a:extLst>
              </a:tr>
              <a:tr h="35463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000" kern="100" dirty="0">
                          <a:effectLst/>
                        </a:rPr>
                        <a:t>ПРЕДУСМОТРИТЕЛЬНОСТЬ</a:t>
                      </a:r>
                      <a:endParaRPr lang="ru-RU" sz="10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>
                    <a:solidFill>
                      <a:srgbClr val="2419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solidFill>
                            <a:srgbClr val="006600"/>
                          </a:solidFill>
                          <a:effectLst/>
                        </a:rPr>
                        <a:t>Соответствует</a:t>
                      </a:r>
                      <a:endParaRPr lang="ru-RU" sz="1100" kern="100" dirty="0">
                        <a:solidFill>
                          <a:srgbClr val="006600"/>
                        </a:solidFill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Высокая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extLst>
                  <a:ext uri="{0D108BD9-81ED-4DB2-BD59-A6C34878D82A}">
                    <a16:rowId xmlns:a16="http://schemas.microsoft.com/office/drawing/2014/main" val="2431604956"/>
                  </a:ext>
                </a:extLst>
              </a:tr>
              <a:tr h="33596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000" kern="100" dirty="0">
                          <a:effectLst/>
                        </a:rPr>
                        <a:t>НАГЛЯДНОСТЬ</a:t>
                      </a:r>
                      <a:endParaRPr lang="ru-RU" sz="10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>
                    <a:solidFill>
                      <a:srgbClr val="2419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solidFill>
                            <a:srgbClr val="CC9900"/>
                          </a:solidFill>
                          <a:effectLst/>
                        </a:rPr>
                        <a:t>Неполное</a:t>
                      </a:r>
                      <a:endParaRPr lang="ru-RU" sz="1100" kern="100" dirty="0">
                        <a:solidFill>
                          <a:srgbClr val="CC9900"/>
                        </a:solidFill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Средняя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extLst>
                  <a:ext uri="{0D108BD9-81ED-4DB2-BD59-A6C34878D82A}">
                    <a16:rowId xmlns:a16="http://schemas.microsoft.com/office/drawing/2014/main" val="1120679634"/>
                  </a:ext>
                </a:extLst>
              </a:tr>
              <a:tr h="38076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000" kern="100" dirty="0">
                          <a:effectLst/>
                        </a:rPr>
                        <a:t>ГИБКОСТЬ И ЭФФЕКТИВНОСТЬ</a:t>
                      </a:r>
                      <a:endParaRPr lang="ru-RU" sz="10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>
                    <a:solidFill>
                      <a:srgbClr val="2419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solidFill>
                            <a:srgbClr val="006600"/>
                          </a:solidFill>
                          <a:effectLst/>
                        </a:rPr>
                        <a:t>Соответствует</a:t>
                      </a:r>
                      <a:endParaRPr lang="ru-RU" sz="1100" kern="100" dirty="0">
                        <a:solidFill>
                          <a:srgbClr val="006600"/>
                        </a:solidFill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Высокая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extLst>
                  <a:ext uri="{0D108BD9-81ED-4DB2-BD59-A6C34878D82A}">
                    <a16:rowId xmlns:a16="http://schemas.microsoft.com/office/drawing/2014/main" val="527294271"/>
                  </a:ext>
                </a:extLst>
              </a:tr>
              <a:tr h="38076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000" kern="100" dirty="0">
                          <a:effectLst/>
                        </a:rPr>
                        <a:t>ЛАКОНИЧНОСТЬ И ТОЧНОСТЬ</a:t>
                      </a:r>
                      <a:endParaRPr lang="ru-RU" sz="10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>
                    <a:solidFill>
                      <a:srgbClr val="2419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solidFill>
                            <a:srgbClr val="006600"/>
                          </a:solidFill>
                          <a:effectLst/>
                        </a:rPr>
                        <a:t>Соответствует</a:t>
                      </a:r>
                      <a:endParaRPr lang="ru-RU" sz="1100" kern="100" dirty="0">
                        <a:solidFill>
                          <a:srgbClr val="006600"/>
                        </a:solidFill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Высокая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extLst>
                  <a:ext uri="{0D108BD9-81ED-4DB2-BD59-A6C34878D82A}">
                    <a16:rowId xmlns:a16="http://schemas.microsoft.com/office/drawing/2014/main" val="1055795352"/>
                  </a:ext>
                </a:extLst>
              </a:tr>
              <a:tr h="36347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000" kern="100" dirty="0">
                          <a:effectLst/>
                        </a:rPr>
                        <a:t>ЛОЯЛЬНОСТЬ К ОШИБКАМ</a:t>
                      </a:r>
                      <a:endParaRPr lang="ru-RU" sz="10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>
                    <a:solidFill>
                      <a:srgbClr val="2419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solidFill>
                            <a:srgbClr val="CC9900"/>
                          </a:solidFill>
                          <a:effectLst/>
                        </a:rPr>
                        <a:t>Неполное</a:t>
                      </a:r>
                      <a:endParaRPr lang="ru-RU" sz="1100" kern="100" dirty="0">
                        <a:solidFill>
                          <a:srgbClr val="CC9900"/>
                        </a:solidFill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Средняя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extLst>
                  <a:ext uri="{0D108BD9-81ED-4DB2-BD59-A6C34878D82A}">
                    <a16:rowId xmlns:a16="http://schemas.microsoft.com/office/drawing/2014/main" val="771715245"/>
                  </a:ext>
                </a:extLst>
              </a:tr>
              <a:tr h="38076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000" kern="100" dirty="0">
                          <a:effectLst/>
                        </a:rPr>
                        <a:t>НАЛИЧИЕ СПРАВКИ</a:t>
                      </a:r>
                      <a:endParaRPr lang="ru-RU" sz="10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>
                    <a:solidFill>
                      <a:srgbClr val="2419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solidFill>
                            <a:srgbClr val="C00000"/>
                          </a:solidFill>
                          <a:effectLst/>
                        </a:rPr>
                        <a:t>Не соответствует</a:t>
                      </a:r>
                      <a:endParaRPr lang="ru-RU" sz="1100" kern="100" dirty="0">
                        <a:solidFill>
                          <a:srgbClr val="C00000"/>
                        </a:solidFill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Низкая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extLst>
                  <a:ext uri="{0D108BD9-81ED-4DB2-BD59-A6C34878D82A}">
                    <a16:rowId xmlns:a16="http://schemas.microsoft.com/office/drawing/2014/main" val="561205288"/>
                  </a:ext>
                </a:extLst>
              </a:tr>
            </a:tbl>
          </a:graphicData>
        </a:graphic>
      </p:graphicFrame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A7F362A5-67C3-4923-AC03-6BFF97429B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96445" y="1327821"/>
            <a:ext cx="2392889" cy="2487857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6B5B5315-CC45-4A29-9941-25259B5EC7D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9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836042" y="2123937"/>
            <a:ext cx="2802268" cy="268261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D9938EC-6477-4BC6-B603-79DC61FB7927}"/>
              </a:ext>
            </a:extLst>
          </p:cNvPr>
          <p:cNvSpPr txBox="1"/>
          <p:nvPr/>
        </p:nvSpPr>
        <p:spPr>
          <a:xfrm>
            <a:off x="8372475" y="4679156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11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15461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9B08FEFD-18ED-44AB-BFDE-8D226D73947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9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451652" y="3826395"/>
            <a:ext cx="4086071" cy="3911601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9130C168-8E17-424B-AE30-5F488A1CD0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5021" y="-1371839"/>
            <a:ext cx="2341832" cy="2434774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7D3C0BB-F1AE-4BF9-AF10-79A7F079D7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8869" y="1664769"/>
            <a:ext cx="2392889" cy="2487857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720A04B7-C35B-4821-90BA-0CFA233D4B4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9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29272" y="2460885"/>
            <a:ext cx="2802268" cy="268261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E363826-8332-4FA6-A837-A263C0B17F5F}"/>
              </a:ext>
            </a:extLst>
          </p:cNvPr>
          <p:cNvSpPr txBox="1"/>
          <p:nvPr/>
        </p:nvSpPr>
        <p:spPr>
          <a:xfrm>
            <a:off x="-228615" y="336948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ru-RU" dirty="0"/>
          </a:p>
        </p:txBody>
      </p:sp>
      <p:sp>
        <p:nvSpPr>
          <p:cNvPr id="11" name="Google Shape;60;p14">
            <a:extLst>
              <a:ext uri="{FF2B5EF4-FFF2-40B4-BE49-F238E27FC236}">
                <a16:creationId xmlns:a16="http://schemas.microsoft.com/office/drawing/2014/main" id="{5F655836-3C0B-4DC2-A888-3C5FAA908019}"/>
              </a:ext>
            </a:extLst>
          </p:cNvPr>
          <p:cNvSpPr txBox="1">
            <a:spLocks/>
          </p:cNvSpPr>
          <p:nvPr/>
        </p:nvSpPr>
        <p:spPr>
          <a:xfrm>
            <a:off x="853000" y="194337"/>
            <a:ext cx="7326594" cy="592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>
              <a:buSzPts val="990"/>
            </a:pPr>
            <a:r>
              <a:rPr lang="ru-RU" sz="3000" b="1" dirty="0">
                <a:solidFill>
                  <a:schemeClr val="bg1"/>
                </a:solidFill>
                <a:latin typeface="+mj-lt"/>
              </a:rPr>
              <a:t>ФУНКЦИОНАЛЬНОЕ ТЕСТИРОВАНИЕ</a:t>
            </a:r>
            <a:endParaRPr lang="en-US" sz="3000" b="1" dirty="0">
              <a:solidFill>
                <a:schemeClr val="bg1"/>
              </a:solidFill>
              <a:latin typeface="+mj-lt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BAE0C427-7114-4588-B0B3-BA22D41DB1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144587"/>
              </p:ext>
            </p:extLst>
          </p:nvPr>
        </p:nvGraphicFramePr>
        <p:xfrm>
          <a:off x="853000" y="1338538"/>
          <a:ext cx="5357793" cy="2983460"/>
        </p:xfrm>
        <a:graphic>
          <a:graphicData uri="http://schemas.openxmlformats.org/drawingml/2006/table">
            <a:tbl>
              <a:tblPr firstRow="1" firstCol="1" bandRow="1">
                <a:tableStyleId>{F5AB1C69-6EDB-4FF4-983F-18BD219EF322}</a:tableStyleId>
              </a:tblPr>
              <a:tblGrid>
                <a:gridCol w="3024026">
                  <a:extLst>
                    <a:ext uri="{9D8B030D-6E8A-4147-A177-3AD203B41FA5}">
                      <a16:colId xmlns:a16="http://schemas.microsoft.com/office/drawing/2014/main" val="2088634521"/>
                    </a:ext>
                  </a:extLst>
                </a:gridCol>
                <a:gridCol w="1142014">
                  <a:extLst>
                    <a:ext uri="{9D8B030D-6E8A-4147-A177-3AD203B41FA5}">
                      <a16:colId xmlns:a16="http://schemas.microsoft.com/office/drawing/2014/main" val="1281383426"/>
                    </a:ext>
                  </a:extLst>
                </a:gridCol>
                <a:gridCol w="1191753">
                  <a:extLst>
                    <a:ext uri="{9D8B030D-6E8A-4147-A177-3AD203B41FA5}">
                      <a16:colId xmlns:a16="http://schemas.microsoft.com/office/drawing/2014/main" val="2392282416"/>
                    </a:ext>
                  </a:extLst>
                </a:gridCol>
              </a:tblGrid>
              <a:tr h="50933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Название проверки 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9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Результат 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9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Замечания и рекомендации 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7721759"/>
                  </a:ext>
                </a:extLst>
              </a:tr>
              <a:tr h="355081">
                <a:tc grid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ru-RU" sz="1100" b="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Aptos"/>
                          <a:cs typeface="Times New Roman" panose="02020603050405020304" pitchFamily="18" charset="0"/>
                        </a:rPr>
                        <a:t>КРОССБРАУЗЕРНОЕ ТЕСТИРОВАНИЕ</a:t>
                      </a:r>
                    </a:p>
                  </a:txBody>
                  <a:tcPr marL="47706" marR="47706" marT="0" marB="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rgbClr val="493371">
                            <a:tint val="66000"/>
                            <a:satMod val="160000"/>
                          </a:srgbClr>
                        </a:gs>
                        <a:gs pos="50000">
                          <a:srgbClr val="493371">
                            <a:tint val="44500"/>
                            <a:satMod val="160000"/>
                          </a:srgbClr>
                        </a:gs>
                        <a:gs pos="100000">
                          <a:srgbClr val="493371">
                            <a:tint val="23500"/>
                            <a:satMod val="160000"/>
                          </a:srgbClr>
                        </a:gs>
                      </a:gsLst>
                      <a:lin ang="189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779460"/>
                  </a:ext>
                </a:extLst>
              </a:tr>
              <a:tr h="52284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ru-RU" sz="1100" b="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Приложение корректно отображается и функционирует во всех актуальных браузерах.</a:t>
                      </a:r>
                      <a:endParaRPr lang="ru-RU" sz="1100" b="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EC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ru-RU" sz="1100" b="0" i="0" u="none" strike="noStrike" cap="non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Не реализовано</a:t>
                      </a:r>
                      <a:endParaRPr lang="ru-RU" sz="1100" kern="1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+mn-lt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endParaRPr lang="ru-RU" sz="1100" kern="1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+mn-lt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extLst>
                  <a:ext uri="{0D108BD9-81ED-4DB2-BD59-A6C34878D82A}">
                    <a16:rowId xmlns:a16="http://schemas.microsoft.com/office/drawing/2014/main" val="1842808080"/>
                  </a:ext>
                </a:extLst>
              </a:tr>
              <a:tr h="342650">
                <a:tc grid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ru-RU" sz="1100" b="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Aptos"/>
                          <a:cs typeface="Times New Roman" panose="02020603050405020304" pitchFamily="18" charset="0"/>
                        </a:rPr>
                        <a:t>РАБОТА С ФОРМАМИ</a:t>
                      </a:r>
                    </a:p>
                  </a:txBody>
                  <a:tcPr marL="47706" marR="47706" marT="0" marB="0" anchor="ctr">
                    <a:gradFill flip="none" rotWithShape="1">
                      <a:gsLst>
                        <a:gs pos="0">
                          <a:srgbClr val="493371">
                            <a:tint val="66000"/>
                            <a:satMod val="160000"/>
                          </a:srgbClr>
                        </a:gs>
                        <a:gs pos="50000">
                          <a:srgbClr val="493371">
                            <a:tint val="44500"/>
                            <a:satMod val="160000"/>
                          </a:srgbClr>
                        </a:gs>
                        <a:gs pos="100000">
                          <a:srgbClr val="493371">
                            <a:tint val="23500"/>
                            <a:satMod val="160000"/>
                          </a:srgbClr>
                        </a:gs>
                      </a:gsLst>
                      <a:lin ang="189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3749040"/>
                  </a:ext>
                </a:extLst>
              </a:tr>
              <a:tr h="3903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ru-RU" sz="1100" b="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Корректное отображение списков при выбранном фильтре</a:t>
                      </a:r>
                      <a:endParaRPr lang="ru-RU" sz="1100" b="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>
                    <a:solidFill>
                      <a:srgbClr val="EC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solidFill>
                            <a:srgbClr val="C00000"/>
                          </a:solidFill>
                          <a:effectLst/>
                          <a:latin typeface="+mn-lt"/>
                        </a:rPr>
                        <a:t>Отрицательно</a:t>
                      </a:r>
                      <a:endParaRPr lang="ru-RU" sz="1100" kern="100" dirty="0">
                        <a:solidFill>
                          <a:srgbClr val="C00000"/>
                        </a:solidFill>
                        <a:effectLst/>
                        <a:latin typeface="+mn-lt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  <a:latin typeface="+mn-lt"/>
                        </a:rPr>
                        <a:t>Не работает</a:t>
                      </a:r>
                      <a:endParaRPr lang="ru-RU" sz="1100" kern="100" dirty="0">
                        <a:solidFill>
                          <a:srgbClr val="C00000"/>
                        </a:solidFill>
                        <a:effectLst/>
                        <a:latin typeface="+mn-lt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extLst>
                  <a:ext uri="{0D108BD9-81ED-4DB2-BD59-A6C34878D82A}">
                    <a16:rowId xmlns:a16="http://schemas.microsoft.com/office/drawing/2014/main" val="633914898"/>
                  </a:ext>
                </a:extLst>
              </a:tr>
              <a:tr h="340364">
                <a:tc grid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ru-RU" sz="1100" b="0" kern="1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Aptos"/>
                          <a:cs typeface="Times New Roman" panose="02020603050405020304" pitchFamily="18" charset="0"/>
                        </a:rPr>
                        <a:t>НАВИГАЦИЯ</a:t>
                      </a:r>
                    </a:p>
                  </a:txBody>
                  <a:tcPr marL="47706" marR="47706" marT="0" marB="0" anchor="ctr">
                    <a:gradFill flip="none" rotWithShape="1">
                      <a:gsLst>
                        <a:gs pos="0">
                          <a:srgbClr val="493371">
                            <a:tint val="66000"/>
                            <a:satMod val="160000"/>
                          </a:srgbClr>
                        </a:gs>
                        <a:gs pos="50000">
                          <a:srgbClr val="493371">
                            <a:tint val="44500"/>
                            <a:satMod val="160000"/>
                          </a:srgbClr>
                        </a:gs>
                        <a:gs pos="100000">
                          <a:srgbClr val="493371">
                            <a:tint val="23500"/>
                            <a:satMod val="160000"/>
                          </a:srgbClr>
                        </a:gs>
                      </a:gsLst>
                      <a:lin ang="189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0524420"/>
                  </a:ext>
                </a:extLst>
              </a:tr>
              <a:tr h="52284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ru-RU" sz="1100" b="0" kern="1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Отображение страницы с ошибкой 404, если пользователь указал неверный путь к файлу или URL.</a:t>
                      </a:r>
                      <a:endParaRPr lang="ru-RU" sz="1100" b="0" kern="100" dirty="0">
                        <a:solidFill>
                          <a:schemeClr val="tx1"/>
                        </a:solidFill>
                        <a:effectLst/>
                        <a:latin typeface="+mn-lt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>
                    <a:solidFill>
                      <a:srgbClr val="EC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solidFill>
                            <a:srgbClr val="C00000"/>
                          </a:solidFill>
                          <a:effectLst/>
                          <a:latin typeface="+mn-lt"/>
                        </a:rPr>
                        <a:t>Отрицательно</a:t>
                      </a:r>
                      <a:endParaRPr lang="ru-RU" sz="1100" kern="100" dirty="0">
                        <a:solidFill>
                          <a:srgbClr val="C00000"/>
                        </a:solidFill>
                        <a:effectLst/>
                        <a:latin typeface="+mn-lt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endParaRPr lang="ru-RU" sz="1100" kern="100" dirty="0">
                        <a:solidFill>
                          <a:srgbClr val="C00000"/>
                        </a:solidFill>
                        <a:effectLst/>
                        <a:latin typeface="+mn-lt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47706" marR="47706" marT="0" marB="0" anchor="ctr"/>
                </a:tc>
                <a:extLst>
                  <a:ext uri="{0D108BD9-81ED-4DB2-BD59-A6C34878D82A}">
                    <a16:rowId xmlns:a16="http://schemas.microsoft.com/office/drawing/2014/main" val="1374263304"/>
                  </a:ext>
                </a:extLst>
              </a:tr>
            </a:tbl>
          </a:graphicData>
        </a:graphic>
      </p:graphicFrame>
      <p:graphicFrame>
        <p:nvGraphicFramePr>
          <p:cNvPr id="14" name="Диаграмма 13">
            <a:extLst>
              <a:ext uri="{FF2B5EF4-FFF2-40B4-BE49-F238E27FC236}">
                <a16:creationId xmlns:a16="http://schemas.microsoft.com/office/drawing/2014/main" id="{423512F2-7AA2-F149-5ED1-ED46FA9585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1618098"/>
              </p:ext>
            </p:extLst>
          </p:nvPr>
        </p:nvGraphicFramePr>
        <p:xfrm>
          <a:off x="6390640" y="901241"/>
          <a:ext cx="2500670" cy="33410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6E3D8DE9-7B14-4244-B47B-3D2F3508D290}"/>
              </a:ext>
            </a:extLst>
          </p:cNvPr>
          <p:cNvSpPr txBox="1"/>
          <p:nvPr/>
        </p:nvSpPr>
        <p:spPr>
          <a:xfrm>
            <a:off x="8372475" y="4679156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12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90262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9B08FEFD-18ED-44AB-BFDE-8D226D73947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9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451652" y="3826395"/>
            <a:ext cx="4086071" cy="3911601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9130C168-8E17-424B-AE30-5F488A1CD0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5021" y="-1371839"/>
            <a:ext cx="2341832" cy="2434774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7D3C0BB-F1AE-4BF9-AF10-79A7F079D7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8869" y="1664769"/>
            <a:ext cx="2392889" cy="2487857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720A04B7-C35B-4821-90BA-0CFA233D4B4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9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29272" y="2460885"/>
            <a:ext cx="2802268" cy="268261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E363826-8332-4FA6-A837-A263C0B17F5F}"/>
              </a:ext>
            </a:extLst>
          </p:cNvPr>
          <p:cNvSpPr txBox="1"/>
          <p:nvPr/>
        </p:nvSpPr>
        <p:spPr>
          <a:xfrm>
            <a:off x="-228615" y="336948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ru-RU" dirty="0"/>
          </a:p>
        </p:txBody>
      </p:sp>
      <p:sp>
        <p:nvSpPr>
          <p:cNvPr id="11" name="Google Shape;60;p14">
            <a:extLst>
              <a:ext uri="{FF2B5EF4-FFF2-40B4-BE49-F238E27FC236}">
                <a16:creationId xmlns:a16="http://schemas.microsoft.com/office/drawing/2014/main" id="{5F655836-3C0B-4DC2-A888-3C5FAA908019}"/>
              </a:ext>
            </a:extLst>
          </p:cNvPr>
          <p:cNvSpPr txBox="1">
            <a:spLocks/>
          </p:cNvSpPr>
          <p:nvPr/>
        </p:nvSpPr>
        <p:spPr>
          <a:xfrm>
            <a:off x="4373202" y="194337"/>
            <a:ext cx="3806392" cy="592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>
              <a:buSzPts val="990"/>
            </a:pPr>
            <a:r>
              <a:rPr lang="en-US" sz="3000" b="1" dirty="0">
                <a:solidFill>
                  <a:schemeClr val="bg1"/>
                </a:solidFill>
                <a:latin typeface="+mj-lt"/>
              </a:rPr>
              <a:t>UNIT-</a:t>
            </a:r>
            <a:r>
              <a:rPr lang="ru-RU" sz="3000" b="1" dirty="0">
                <a:solidFill>
                  <a:schemeClr val="bg1"/>
                </a:solidFill>
                <a:latin typeface="+mj-lt"/>
              </a:rPr>
              <a:t>ТЕСТЫ</a:t>
            </a:r>
            <a:endParaRPr lang="en-US" sz="3000" b="1" dirty="0">
              <a:solidFill>
                <a:schemeClr val="bg1"/>
              </a:solidFill>
              <a:latin typeface="+mj-lt"/>
            </a:endParaRPr>
          </a:p>
        </p:txBody>
      </p:sp>
      <p:graphicFrame>
        <p:nvGraphicFramePr>
          <p:cNvPr id="14" name="Диаграмма 13">
            <a:extLst>
              <a:ext uri="{FF2B5EF4-FFF2-40B4-BE49-F238E27FC236}">
                <a16:creationId xmlns:a16="http://schemas.microsoft.com/office/drawing/2014/main" id="{423512F2-7AA2-F149-5ED1-ED46FA9585C6}"/>
              </a:ext>
            </a:extLst>
          </p:cNvPr>
          <p:cNvGraphicFramePr/>
          <p:nvPr/>
        </p:nvGraphicFramePr>
        <p:xfrm>
          <a:off x="6390640" y="901241"/>
          <a:ext cx="2500670" cy="33410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6E3D8DE9-7B14-4244-B47B-3D2F3508D290}"/>
              </a:ext>
            </a:extLst>
          </p:cNvPr>
          <p:cNvSpPr txBox="1"/>
          <p:nvPr/>
        </p:nvSpPr>
        <p:spPr>
          <a:xfrm>
            <a:off x="8372475" y="4679156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  <a:r>
              <a:rPr lang="ru-RU" dirty="0">
                <a:solidFill>
                  <a:schemeClr val="bg1"/>
                </a:solidFill>
              </a:rPr>
              <a:t>3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8FFBED7-3504-4D56-B98F-A7ECE186E6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702" y="0"/>
            <a:ext cx="3639207" cy="51435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D21899B-7266-40B3-96C6-4EF2AA7EA0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9272" y="1476620"/>
            <a:ext cx="4581525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9636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32DAFEA1-8564-4D74-AFA7-F65001FCB0C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8000"/>
          </a:blip>
          <a:stretch>
            <a:fillRect/>
          </a:stretch>
        </p:blipFill>
        <p:spPr>
          <a:xfrm rot="10511168">
            <a:off x="1601695" y="-564989"/>
            <a:ext cx="8596705" cy="7426053"/>
          </a:xfrm>
          <a:prstGeom prst="rect">
            <a:avLst/>
          </a:prstGeom>
        </p:spPr>
      </p:pic>
      <p:sp>
        <p:nvSpPr>
          <p:cNvPr id="22" name="Google Shape;60;p14">
            <a:extLst>
              <a:ext uri="{FF2B5EF4-FFF2-40B4-BE49-F238E27FC236}">
                <a16:creationId xmlns:a16="http://schemas.microsoft.com/office/drawing/2014/main" id="{7352A7B8-6471-4C4C-88E3-962748A0C913}"/>
              </a:ext>
            </a:extLst>
          </p:cNvPr>
          <p:cNvSpPr txBox="1">
            <a:spLocks/>
          </p:cNvSpPr>
          <p:nvPr/>
        </p:nvSpPr>
        <p:spPr>
          <a:xfrm>
            <a:off x="3072446" y="144696"/>
            <a:ext cx="3641806" cy="592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>
              <a:buSzPts val="990"/>
            </a:pPr>
            <a:r>
              <a:rPr lang="ru-RU" sz="3000" b="1" dirty="0">
                <a:solidFill>
                  <a:schemeClr val="bg1"/>
                </a:solidFill>
                <a:latin typeface="+mj-lt"/>
              </a:rPr>
              <a:t>РАЗРАБОТЧИКИ</a:t>
            </a:r>
            <a:endParaRPr lang="en-US" sz="30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4" name="Google Shape;55;p13">
            <a:extLst>
              <a:ext uri="{FF2B5EF4-FFF2-40B4-BE49-F238E27FC236}">
                <a16:creationId xmlns:a16="http://schemas.microsoft.com/office/drawing/2014/main" id="{62E0CC1D-1AB9-4940-B4C3-3CFF4BEF2534}"/>
              </a:ext>
            </a:extLst>
          </p:cNvPr>
          <p:cNvSpPr txBox="1"/>
          <p:nvPr/>
        </p:nvSpPr>
        <p:spPr>
          <a:xfrm>
            <a:off x="507240" y="2485626"/>
            <a:ext cx="1971099" cy="490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bg1"/>
                </a:solidFill>
                <a:latin typeface="+mj-lt"/>
                <a:ea typeface="Proxima Nova Semibold"/>
                <a:cs typeface="Proxima Nova Semibold"/>
                <a:sym typeface="Proxima Nova Semibold"/>
              </a:rPr>
              <a:t>МАТВЕЙ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Backend-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разработчик</a:t>
            </a:r>
            <a:endParaRPr lang="ru-RU" dirty="0">
              <a:solidFill>
                <a:schemeClr val="bg1"/>
              </a:solidFill>
              <a:latin typeface="+mj-lt"/>
              <a:ea typeface="Proxima Nova Semibold"/>
              <a:cs typeface="Proxima Nova Semibold"/>
              <a:sym typeface="Proxima Nova Semibold"/>
            </a:endParaRPr>
          </a:p>
          <a:p>
            <a:pPr algn="ctr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Разработка серверной логики и API</a:t>
            </a:r>
          </a:p>
          <a:p>
            <a:pPr algn="ctr"/>
            <a:br>
              <a:rPr lang="ru-RU" dirty="0"/>
            </a:br>
            <a:endParaRPr lang="ru-RU" dirty="0">
              <a:solidFill>
                <a:schemeClr val="bg1"/>
              </a:solidFill>
              <a:latin typeface="+mj-lt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25" name="Google Shape;55;p13">
            <a:extLst>
              <a:ext uri="{FF2B5EF4-FFF2-40B4-BE49-F238E27FC236}">
                <a16:creationId xmlns:a16="http://schemas.microsoft.com/office/drawing/2014/main" id="{FF34B145-3BAB-4610-90CE-5CEF51F50499}"/>
              </a:ext>
            </a:extLst>
          </p:cNvPr>
          <p:cNvSpPr txBox="1"/>
          <p:nvPr/>
        </p:nvSpPr>
        <p:spPr>
          <a:xfrm>
            <a:off x="6505882" y="2485626"/>
            <a:ext cx="2292448" cy="490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bg1"/>
                </a:solidFill>
                <a:latin typeface="+mj-lt"/>
                <a:ea typeface="Proxima Nova Semibold"/>
                <a:cs typeface="Proxima Nova Semibold"/>
                <a:sym typeface="Proxima Nova Semibold"/>
              </a:rPr>
              <a:t>РУСЛАН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Frontend-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разработчик </a:t>
            </a:r>
          </a:p>
          <a:p>
            <a:pPr algn="ctr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Разработка клиентской части и пользовательского интерфейса</a:t>
            </a:r>
          </a:p>
          <a:p>
            <a:pPr algn="ctr"/>
            <a:br>
              <a:rPr lang="ru-RU" dirty="0"/>
            </a:br>
            <a:endParaRPr lang="ru-RU" dirty="0">
              <a:solidFill>
                <a:schemeClr val="bg1"/>
              </a:solidFill>
              <a:latin typeface="+mj-lt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26" name="Google Shape;55;p13">
            <a:extLst>
              <a:ext uri="{FF2B5EF4-FFF2-40B4-BE49-F238E27FC236}">
                <a16:creationId xmlns:a16="http://schemas.microsoft.com/office/drawing/2014/main" id="{D1AF6DD1-78E5-4AE8-986B-4B47BF5DA41A}"/>
              </a:ext>
            </a:extLst>
          </p:cNvPr>
          <p:cNvSpPr txBox="1"/>
          <p:nvPr/>
        </p:nvSpPr>
        <p:spPr>
          <a:xfrm>
            <a:off x="2643836" y="3560300"/>
            <a:ext cx="3854074" cy="490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ru-RU" dirty="0">
                <a:solidFill>
                  <a:schemeClr val="bg1"/>
                </a:solidFill>
                <a:latin typeface="+mj-lt"/>
                <a:ea typeface="Proxima Nova Semibold"/>
                <a:cs typeface="Proxima Nova Semibold"/>
                <a:sym typeface="Proxima Nova Semibold"/>
              </a:rPr>
              <a:t>ДИАНА И ЛЮБОВЬ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Fullstack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-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разработчики</a:t>
            </a:r>
          </a:p>
          <a:p>
            <a:pPr algn="ctr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Интеграция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frontend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и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backend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компонентов</a:t>
            </a:r>
          </a:p>
          <a:p>
            <a:pPr algn="ctr"/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Настройка взаимодействия Vue.js с C# API</a:t>
            </a:r>
          </a:p>
          <a:p>
            <a:pPr algn="ctr"/>
            <a:br>
              <a:rPr lang="ru-RU" dirty="0"/>
            </a:br>
            <a:br>
              <a:rPr lang="ru-RU" dirty="0"/>
            </a:br>
            <a:endParaRPr lang="ru-RU" dirty="0">
              <a:solidFill>
                <a:schemeClr val="bg1"/>
              </a:solidFill>
              <a:latin typeface="+mj-lt"/>
              <a:ea typeface="Proxima Nova Semibold"/>
              <a:cs typeface="Proxima Nova Semibold"/>
              <a:sym typeface="Proxima Nova Semibold"/>
            </a:endParaRP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0369AA52-E576-4649-BB76-5B5C3D1EA0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3075" y="2139237"/>
            <a:ext cx="1254806" cy="1244521"/>
          </a:xfrm>
          <a:prstGeom prst="rect">
            <a:avLst/>
          </a:prstGeom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A722E0DD-24D2-4765-B656-D164838D1B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6582" y="2139237"/>
            <a:ext cx="1255438" cy="1244521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16BEDC6B-2968-468E-BCA4-1AD5EDF179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71" y="1239351"/>
            <a:ext cx="1255438" cy="124627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37C225DA-ECDE-4B4B-8066-C728FBA760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0918" y="1239351"/>
            <a:ext cx="1255438" cy="12554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D138707-1964-44ED-BB9A-F9C2EC691260}"/>
              </a:ext>
            </a:extLst>
          </p:cNvPr>
          <p:cNvSpPr txBox="1"/>
          <p:nvPr/>
        </p:nvSpPr>
        <p:spPr>
          <a:xfrm>
            <a:off x="8372475" y="4679156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  <a:r>
              <a:rPr lang="ru-RU" dirty="0">
                <a:solidFill>
                  <a:schemeClr val="bg1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6323978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FF57F366-8528-4B4C-BDB1-813ABB4EBA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63107" y="-882083"/>
            <a:ext cx="2341832" cy="243477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5DE86CF-9838-40FC-BFBD-93D20E9C16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5348" y="-101426"/>
            <a:ext cx="7358652" cy="4464474"/>
          </a:xfrm>
          <a:prstGeom prst="rect">
            <a:avLst/>
          </a:prstGeom>
        </p:spPr>
      </p:pic>
      <p:sp>
        <p:nvSpPr>
          <p:cNvPr id="22" name="Google Shape;60;p14">
            <a:extLst>
              <a:ext uri="{FF2B5EF4-FFF2-40B4-BE49-F238E27FC236}">
                <a16:creationId xmlns:a16="http://schemas.microsoft.com/office/drawing/2014/main" id="{7352A7B8-6471-4C4C-88E3-962748A0C913}"/>
              </a:ext>
            </a:extLst>
          </p:cNvPr>
          <p:cNvSpPr txBox="1">
            <a:spLocks/>
          </p:cNvSpPr>
          <p:nvPr/>
        </p:nvSpPr>
        <p:spPr>
          <a:xfrm>
            <a:off x="107809" y="335304"/>
            <a:ext cx="3641806" cy="592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>
              <a:buSzPts val="990"/>
            </a:pPr>
            <a:r>
              <a:rPr lang="en-US" sz="3000" b="1" dirty="0">
                <a:solidFill>
                  <a:schemeClr val="bg1"/>
                </a:solidFill>
                <a:latin typeface="+mj-lt"/>
              </a:rPr>
              <a:t>TRACKER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DBEEF96-8163-4584-BA54-011D11DA41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591" y="1365029"/>
            <a:ext cx="5929274" cy="3745006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75F89AC-621A-4676-9CE3-0F9F5A4A488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9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798268" y="3187699"/>
            <a:ext cx="4086071" cy="391160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73248D4-0ED0-45F9-92A7-0E164CC43384}"/>
              </a:ext>
            </a:extLst>
          </p:cNvPr>
          <p:cNvSpPr txBox="1"/>
          <p:nvPr/>
        </p:nvSpPr>
        <p:spPr>
          <a:xfrm>
            <a:off x="8372475" y="4679156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  <a:r>
              <a:rPr lang="ru-RU" dirty="0">
                <a:solidFill>
                  <a:schemeClr val="bg1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8593957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617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FBEC6EC-8060-4404-8293-AB924857B3A9}"/>
              </a:ext>
            </a:extLst>
          </p:cNvPr>
          <p:cNvSpPr/>
          <p:nvPr/>
        </p:nvSpPr>
        <p:spPr>
          <a:xfrm>
            <a:off x="-1" y="4482800"/>
            <a:ext cx="9144001" cy="393788"/>
          </a:xfrm>
          <a:prstGeom prst="rect">
            <a:avLst/>
          </a:prstGeom>
          <a:gradFill>
            <a:gsLst>
              <a:gs pos="0">
                <a:srgbClr val="493371"/>
              </a:gs>
              <a:gs pos="83000">
                <a:srgbClr val="1B434A"/>
              </a:gs>
            </a:gsLst>
            <a:lin ang="54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7A61AF-1314-4B02-AF98-04BE1208CED4}"/>
              </a:ext>
            </a:extLst>
          </p:cNvPr>
          <p:cNvSpPr txBox="1"/>
          <p:nvPr/>
        </p:nvSpPr>
        <p:spPr>
          <a:xfrm>
            <a:off x="2028138" y="1614299"/>
            <a:ext cx="54069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8000" b="1" dirty="0">
                <a:solidFill>
                  <a:schemeClr val="bg1"/>
                </a:solidFill>
                <a:latin typeface="+mj-lt"/>
              </a:rPr>
              <a:t>СПАСИБО</a:t>
            </a:r>
            <a:endParaRPr lang="en-US" sz="80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63833713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468</TotalTime>
  <Words>250</Words>
  <Application>Microsoft Office PowerPoint</Application>
  <PresentationFormat>Экран (16:9)</PresentationFormat>
  <Paragraphs>103</Paragraphs>
  <Slides>16</Slides>
  <Notes>16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0" baseType="lpstr">
      <vt:lpstr>Arial</vt:lpstr>
      <vt:lpstr>quote-cjk-patch</vt:lpstr>
      <vt:lpstr>Aptos</vt:lpstr>
      <vt:lpstr>Simple Light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Lyubaa</dc:creator>
  <cp:lastModifiedBy>Lyubov</cp:lastModifiedBy>
  <cp:revision>50</cp:revision>
  <dcterms:modified xsi:type="dcterms:W3CDTF">2025-11-19T08:39:14Z</dcterms:modified>
</cp:coreProperties>
</file>